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486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نظام نقاط البيع والمخازن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2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حلٌّ متكامل لعطور وتجزئة الكويت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بيع • مخازن متعددة • محاسبة ذات قيد مزدوج • تقارير ذكية • 7 أدوار وظيفية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عرض تنفيذي مع التسعير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التحديات التي تواجه تجزئة العطور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7150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5438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4874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مبيعات مفقودة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438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بطء الكاشير وطوابير العملاء → فقدان 5-12% من الإيراد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054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034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09778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مخزون غير دقيق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0342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بيع بضاعة غير موجودة، نفاد غير متوقع بين الفروع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6958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5246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🧾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8846820" y="16459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ضائعة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52460" y="224028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مكررة ورقياً، نزاعات مع العملاء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150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5438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🔀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34874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تعدد الفروع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5438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 مزامنة فورية، ذمم غير متوازنة، قرارات خاطئة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2054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0342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09778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نقص تقارير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0342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عمى إداري، شراء غير مدروس، رأس مال مجمد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69580" y="324612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5246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8846820" y="34290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التخليص الجمركي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52460" y="4023360"/>
            <a:ext cx="31546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تكاليف استيراد غير محتسبة → هامش ربح وهمي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 — الحل المتكامل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8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منصة واحدة مدمجة تغطي رحلة المنتج كاملة: من الشراء إلى التخليص إلى البيع إلى المحاسبة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البيع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وضع قياسي + سريع + باركود عالمي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52044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الفواتير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جزئي + إلغاء + طباعة حرارية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متعددة + 9 أنواع حركة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21031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2240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8972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المشتريات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8972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أوامر شراء + ملاحق جمركية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التركيبات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مصنع صغير + إنتاج دفعات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2044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المحاسبة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52044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قيد مزدوج + ميزان + قائمة دخل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35508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الورديات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5508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فتح/إغلاق + فروقات + اعتماد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006840" y="365760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8972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18972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189720" y="4617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تقارير + تصدير Excel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نظرة على النظام الفعلي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الدخول الحقيقية من النظام المنشور</a:t>
            </a:r>
            <a:endParaRPr lang="en-US" sz="1500" dirty="0"/>
          </a:p>
        </p:txBody>
      </p:sp>
      <p:pic>
        <p:nvPicPr>
          <p:cNvPr id="4" name="Image 0" descr="/home/z/my-project/ppt-output/real-screenshots/00-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423160" y="1783080"/>
            <a:ext cx="73152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377440" y="1737360"/>
            <a:ext cx="7406640" cy="420624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251960" y="6035040"/>
            <a:ext cx="3657600" cy="411480"/>
          </a:xfrm>
          <a:prstGeom prst="roundRect">
            <a:avLst>
              <a:gd name="adj" fmla="val 1333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251960" y="60350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kwpos.vercel.app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الأدوار السبعة — صلاحيات دقيقة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الدور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286000" y="1097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الاسم العربي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0624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الصلاحيات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0" y="1097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الصفحات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554480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55448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المالك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06240" y="1554480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صلاحيات كاملة + لوحة المالك الحصرية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0" y="155448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صفحة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21408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212140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مدير النظام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2121408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إدارة كاملة + الإعدادات + المستخدمون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0" y="212140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صفحة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688336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88336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2688336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المدير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06240" y="2688336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مبيعات + تقارير + ورديات + اعتمادات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784080" y="2688336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صفحة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55264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255264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286000" y="3255264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206240" y="3255264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+ تقارير + موردين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784080" y="3255264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صفحات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822192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822192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86000" y="3822192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أمين مخزن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206240" y="3822192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مخزون + مشتريات + تركيبات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784080" y="3822192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صفحات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389120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E7E8D1"/>
          </a:solidFill>
          <a:ln w="12700">
            <a:solidFill>
              <a:srgbClr val="E7E8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389120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9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86000" y="438912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موظف مبيعات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206240" y="4389120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+ فواتير + عملاء + تبديل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84080" y="4389120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صفحة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4956048"/>
            <a:ext cx="11247120" cy="521208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956048"/>
            <a:ext cx="164592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CASHIER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495604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كاشير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06240" y="4956048"/>
            <a:ext cx="5486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فقط + الورديات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784080" y="4956048"/>
            <a:ext cx="18288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8A7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صفحات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البيع — سرعة + دقة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7150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866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1158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القياسي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438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شريط جانبي كامل + بحث + بطاقات منتجات + سلة كاملة + دفع متعدد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054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77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96062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السريع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0342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كاملة + باركود كبير + بطاقات كبيرة + أزرار دفع ضخمة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69580" y="15544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0674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📷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09660" y="17373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قارئ باركود عالمي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52460" y="22402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HID + كشف المسح السريع 5-15ms + focus دائم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150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1158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ربط عميل بالهاتف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5438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بحث بالهاتف + نقاط ولاء + تاريخ المشتريات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2054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5770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⏸️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96062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معلّقة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0342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تعليق + استئناف + استبدال السلة + حذف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69580" y="315468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067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🖨️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709660" y="33375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طباعة حرارية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252460" y="3840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إيصال 80mm + فاتورة A4 + شعار الشركة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94360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اختصارات: F2 = دفع  •  Ctrl+Enter = تأكيد  •  Esc = تفريغ  •  Ctrl+K = بحث شامل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نقاط البيع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الوضع القياسي: شريط جانبي + بحث + بطاقات منتجات + سلة كاملة + دفع</a:t>
            </a:r>
            <a:endParaRPr lang="en-US" sz="1400" dirty="0"/>
          </a:p>
        </p:txBody>
      </p:sp>
      <p:pic>
        <p:nvPicPr>
          <p:cNvPr id="4" name="Image 0" descr="/home/z/my-project/ppt-output/real-screenshots/02-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 والفروع المتعددة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متعددة بكميات مستقلة لكل منتج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أنواع حركة مخزون (بيع/مرتجع/تبديل/شراء/...)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3347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 atomic يمنع race conditions في البيع المتزامن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3639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تحويلات بين المخازن (شحنة صادرة + واردة)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63931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566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كامل + جرد أعمى (بدون رصيد دفتري)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14223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69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حذف ناعم + استعادة للمنتجات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64515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72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حركة المخزون لكل صنف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148072"/>
            <a:ext cx="228600" cy="22860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074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3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تتبع التكلفة الفعلية مع رسملة الجمارك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0" y="155448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040880" y="17373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أنواع حركة المخزون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0" y="22860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23544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بيع → خصم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3544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مبيعات → إضافة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0" y="3108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108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تبديل → 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PURCHASE_INVOICE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23544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فاتورة مشتريات → إضافة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0" y="39319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PURCHASE_RETURN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235440" y="3931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مشتريات → خصم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132320" y="43434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TRANSFER_OUT/IN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23544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تحويل بين المخازن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0" y="4754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STOCK_TAKE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→ تسوية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0" y="5166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SPOT_CHECK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51663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جرد أعمى مفاجئ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المخزون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جدول المنتجات مع الفلترة + الأسعار + الكميات لكل مخزن + حالات المخزون</a:t>
            </a:r>
            <a:endParaRPr lang="en-US" sz="1400" dirty="0"/>
          </a:p>
        </p:txBody>
      </p:sp>
      <p:pic>
        <p:nvPicPr>
          <p:cNvPr id="4" name="Image 0" descr="/home/z/my-project/ppt-output/real-screenshots/03-inven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ذات قيد مزدوج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حساب جاهز + قيود تلقائية على كل عملية + تقارير مالية كاملة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النقدية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5176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1020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البنك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8348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7492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المخزون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أصل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1520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40664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ذمم دائنة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0664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646920" y="201168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3836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38360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عجز وردية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38360" y="272491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2110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1148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ضريبة مستحقة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خصم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65176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3010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74320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رأس المال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ملكية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98348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7492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 مبيعات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7492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31520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4060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40664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فائض تسوية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0664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إيراد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646920" y="30632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7383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5070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73836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تكلفة البضاعة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738360" y="377647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9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مصروف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 المالية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ميزان المراجعة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38328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328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قائمة الدخل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1792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21792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الميزانية العمومية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052560" y="484632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4846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التدفقات النقدية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الأستاذ العام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38328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328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VAT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21792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1792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كشف حساب عميل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052560" y="53949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052560" y="5394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كشف حساب مورد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المحاسبة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ميزان المراجعة + القيود اليومية + قائمة الدخل — كل القيود تلقائية</a:t>
            </a:r>
            <a:endParaRPr lang="en-US" sz="1400" dirty="0"/>
          </a:p>
        </p:txBody>
      </p:sp>
      <p:pic>
        <p:nvPicPr>
          <p:cNvPr id="4" name="Image 0" descr="/home/z/my-project/ppt-output/real-screenshots/06-accou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التقارير والتحليلات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تقارير قابلة للتصدير Excel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93392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المبيعات (فلاتر متعددة)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042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تحليلات المبيعات (5 أنواع)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883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مصفوفة الأداء (أقسام + منتجات)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45536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0723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مؤشر كفاءة المنتج (100 نقطة)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29584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4564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المخزون وحركاته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40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المشتريات والموردون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2452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الولاء والعملاء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681728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6085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الورديات والفروقات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65776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9262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المرتجعات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449824"/>
            <a:ext cx="182880" cy="1828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7667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تقرير سجل التدقيق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83680" y="17373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 كفاءة المنتج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583680" y="21945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نقطة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6949440" y="301752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67512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الربحية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83880" y="3017520"/>
            <a:ext cx="640080" cy="640080"/>
          </a:xfrm>
          <a:prstGeom prst="ellipse">
            <a:avLst/>
          </a:prstGeom>
          <a:solidFill>
            <a:srgbClr val="8B5A3C"/>
          </a:solidFill>
          <a:ln w="12700">
            <a:solidFill>
              <a:srgbClr val="8B5A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90956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المبيعات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418320" y="3017520"/>
            <a:ext cx="640080" cy="64008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1832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14400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مرتجع عقابي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652760" y="3017520"/>
            <a:ext cx="640080" cy="640080"/>
          </a:xfrm>
          <a:prstGeom prst="ellipse">
            <a:avLst/>
          </a:prstGeom>
          <a:solidFill>
            <a:srgbClr val="A7BEAE"/>
          </a:solidFill>
          <a:ln w="12700">
            <a:solidFill>
              <a:srgbClr val="A7BEA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5276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037844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التكلفة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83680" y="43891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التصنيف التلقائي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67512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بطل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7512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أعلى من 80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90956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0956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فرصة كامنة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90956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50-80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14400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8B5A3C"/>
          </a:solidFill>
          <a:ln w="12700">
            <a:solidFill>
              <a:srgbClr val="8B5A3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مخادع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914400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30-50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378440" y="484632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8A7E76"/>
          </a:solidFill>
          <a:ln w="12700">
            <a:solidFill>
              <a:srgbClr val="8A7E7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78440" y="49377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راكد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378440" y="53949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أقل من 30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التقارير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الأكثر مبيعاً + مؤشر كفاءة المنتج + توزيع الأقسام + مؤشرات الأداء</a:t>
            </a:r>
            <a:endParaRPr lang="en-US" sz="1400" dirty="0"/>
          </a:p>
        </p:txBody>
      </p:sp>
      <p:pic>
        <p:nvPicPr>
          <p:cNvPr id="4" name="Image 0" descr="/home/z/my-project/ppt-output/real-screenshots/07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لوحة التحكم — معاينة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4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مؤشرات الأداء + مبيعات الأسبوع + آخر الفواتير + تنبيهات المخزون</a:t>
            </a:r>
            <a:endParaRPr lang="en-US" sz="1400" dirty="0"/>
          </a:p>
        </p:txBody>
      </p:sp>
      <p:pic>
        <p:nvPicPr>
          <p:cNvPr id="4" name="Image 0" descr="/home/z/my-project/ppt-output/real-screenshots/01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110642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737360"/>
            <a:ext cx="11155680" cy="4754880"/>
          </a:xfrm>
          <a:prstGeom prst="rect">
            <a:avLst/>
          </a:prstGeom>
          <a:solidFill>
            <a:srgbClr val="C9A961">
              <a:alpha val="0"/>
            </a:srgbClr>
          </a:solidFill>
          <a:ln w="254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باقات التسعير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5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اختر الباقة المناسبة لحجم متجرك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3434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722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البداية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1722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722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لمحلات العطور الصغيرة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722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1722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9154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726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نقاط بيع قياسي + سريع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0866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726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100 منتج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866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726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مخزن واحد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0866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3726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مستخدم واحد (كاشير)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0866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726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فواتير + طباعة حرارية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0866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726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ورديات + إغلاق يومي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726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دعم بريدي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27482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32220" y="1828800"/>
            <a:ext cx="1371600" cy="320040"/>
          </a:xfrm>
          <a:prstGeom prst="roundRect">
            <a:avLst>
              <a:gd name="adj" fmla="val 11429"/>
            </a:avLst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22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الأكثر شعبية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5770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النمو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45770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5770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لمحلات العطور المتوسطة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45770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445770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3202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914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7774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ميزات البداية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4914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7774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منتجات غير محدودة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4914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774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3 مخازن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4914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77774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حتى 5 مستخدمين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4914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77774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محاسبة قيد مزدوج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4914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77774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ملاحق جمركية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54914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74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تركيبات + باقات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549140" y="57058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77740" y="57058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تقارير + Excel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549140" y="595274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77740" y="595274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دعم بالواتساب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115300" y="1691640"/>
            <a:ext cx="3611880" cy="4572000"/>
          </a:xfrm>
          <a:prstGeom prst="roundRect">
            <a:avLst>
              <a:gd name="adj" fmla="val 2025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298180" y="187452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المؤسسة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298180" y="22860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98180" y="251460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للمحلات الكبيرة والفروع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98180" y="283464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8298180" y="35204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د.ك / شهرياً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8572500" y="3840480"/>
            <a:ext cx="2697480" cy="0"/>
          </a:xfrm>
          <a:prstGeom prst="line">
            <a:avLst/>
          </a:prstGeom>
          <a:noFill/>
          <a:ln w="12700">
            <a:solidFill>
              <a:srgbClr val="A7BEAE">
                <a:alpha val="5000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89620" y="397764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618220" y="397764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كل ميزات النمو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389620" y="422452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618220" y="422452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مخازن غير محدودة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389620" y="447141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618220" y="447141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مستخدمون غير محدودين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8389620" y="471830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618220" y="471830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تكامل Shopify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89620" y="4965192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8618220" y="496519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مؤشر كفاءة المنتج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8389620" y="521208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618220" y="521208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سجل تدقيق كامل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8389620" y="5458968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8618220" y="545896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أدوات صيانة النظام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89620" y="570585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618220" y="5705856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أولوية الدعم + هاتفي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389620" y="5952744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618220" y="5952744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مخصص (2 ساعة)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جميع البقات تشمل: استضافة سحابية + نسخ احتياطي يومي + تحديثات مجانية + إلغاء في أي وقت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إعداد لمرة واحدة + خدمات إضافية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035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6459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الإعداد لمرة واحدة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إنشاء الحساب + ربط Supabase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97680" y="2194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استيراد المنتجات (Excel)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7977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أساسي (ساعة)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0" y="27797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مجاني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تخصيص شعار + فاتورة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0" y="30723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د.ك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3649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ترحيل بيانات من نظام سابق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33649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د.ك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تدريب مخصص (2 ساعة)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د.ك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463040"/>
            <a:ext cx="53035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أجهزة (اختياري)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0" y="21945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طابعة إيصالات حرارية 80mm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0" y="2194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د.ك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2487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قارئ باركود USB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د.ك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277977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درج نقود آلي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0" y="27797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د.ك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307238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جهاز لوحي Android للكاشير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30723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د.ك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33649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شاشة لمس عميلة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33649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د.ك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3657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2F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حزمة كاملة (الكل)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58400" y="36576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د.ك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2103120"/>
          </a:xfrm>
          <a:prstGeom prst="roundRect">
            <a:avLst>
              <a:gd name="adj" fmla="val 3478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1520" y="44805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خصم الدفع السنوي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ادفع سنوياً بدل شهرياً ووفّر شهرين مجاناً (≈17% خصم)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229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البداية: 15 د.ك/شهر → 150 د.ك/سنة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229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30 د.ك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4805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النمو: 35 د.ك/شهر → 350 د.ك/سنة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4805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70 د.ك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138160" y="55778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المؤسسة: 75 د.ك/شهر → 750 د.ك/سنة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138160" y="5943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وفّر 150 د.ك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لماذا KWPOS؟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🇰🇼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17373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مصمم للكويت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1488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دينار كويتي + ضريبة كيات + متعدد الفروع + عربي RTL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⚡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086600" y="17373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سريع جداً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86600" y="214884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SQL + React.memo + 100ms استجابة POS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30632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آمن وقابل للتدقيق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47472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+ audit log + صلاحيات دقيقة + timingSafeEqual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88036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086600" y="30632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ذكي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86600" y="347472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تقارير + تحليلات + مؤشر كفاءة المنتج (100 نقطة)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💰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63040" y="43891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اقتصادي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48006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= لا خوادم لإدارتها، تبدأ من 15 د.ك شهرياً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20624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🧪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086600" y="43891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موثوق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86600" y="48006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اختبار آلي + lint + TypeScript صارم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53212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🌍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463040" y="57150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يعمل في أي مكان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63040" y="6126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سحابي + الوصول من الجوال + الكمبيوتر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5532120"/>
            <a:ext cx="5440680" cy="1143000"/>
          </a:xfrm>
          <a:prstGeom prst="roundRect">
            <a:avLst>
              <a:gd name="adj" fmla="val 6400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5806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🔧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7086600" y="571500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6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قابل للتخصيص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6126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l" indent="0" marL="0">
              <a:buNone/>
            </a:pPr>
            <a:r>
              <a:rPr lang="en-US" sz="11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ملاحق جمركية + تركيبات + باقات + عروض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6459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شكراً لكم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نحن هنا لإدارة أعمالكم بكفاءة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337560" y="384048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2A2018"/>
          </a:solidFill>
          <a:ln w="12700">
            <a:solidFill>
              <a:srgbClr val="2A20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4023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للبدء أو الاستفسار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40480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06240" y="4526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البريد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77840" y="4526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info@kwpos.kw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4910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06240" y="491032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الموقع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577840" y="49103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kwpos.vercel.app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0480" y="52943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06240" y="5294376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الواتساب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77840" y="529437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+965 0000 0000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37560" y="612648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6126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جرّب مجاناً لمدة 14 يوماً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KWPOS — نظام نقاط البيع والمخازن</dc:title>
  <dc:subject>PptxGenJS Presentation</dc:subject>
  <dc:creator>KWPOS</dc:creator>
  <cp:lastModifiedBy>KWPOS</cp:lastModifiedBy>
  <cp:revision>1</cp:revision>
  <dcterms:created xsi:type="dcterms:W3CDTF">2026-08-26T07:02:47Z</dcterms:created>
  <dcterms:modified xsi:type="dcterms:W3CDTF">2026-08-26T07:02:47Z</dcterms:modified>
</cp:coreProperties>
</file>