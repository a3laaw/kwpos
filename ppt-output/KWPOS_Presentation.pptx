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tl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4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73152"/>
          </a:xfrm>
          <a:prstGeom prst="rect">
            <a:avLst/>
          </a:prstGeom>
          <a:solidFill>
            <a:srgbClr val="C9A961"/>
          </a:solidFill>
          <a:ln w="12700">
            <a:solidFill>
              <a:srgbClr val="C9A96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548640"/>
            <a:ext cx="2011680" cy="548640"/>
          </a:xfrm>
          <a:prstGeom prst="roundRect">
            <a:avLst>
              <a:gd name="adj" fmla="val 13333"/>
            </a:avLst>
          </a:prstGeom>
          <a:solidFill>
            <a:srgbClr val="B85042"/>
          </a:solidFill>
          <a:ln w="12700">
            <a:solidFill>
              <a:srgbClr val="B8504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548640"/>
            <a:ext cx="2011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KWPOS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48640" y="2011680"/>
            <a:ext cx="10972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نظام نقاط البيع والمخازن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548640" y="310896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2400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حلٌّ متكامل لعطور وتجزئة الكويت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48640" y="402336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1600" dirty="0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نقاط بيع • مخازن متعددة • محاسبة ذات قيد مزدوج • تقارير ذكية • 7 أدوار وظيفية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48640" y="62179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1200" dirty="0">
                <a:solidFill>
                  <a:srgbClr val="8A7E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عرض تنفيذي مع التسعير  • 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3200" b="1" dirty="0">
                <a:solidFill>
                  <a:srgbClr val="2F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التحديات التي تواجه تجزئة العطور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71500" y="1463040"/>
            <a:ext cx="352044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270000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754380" y="16002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📉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348740" y="1645920"/>
            <a:ext cx="2606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16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مبيعات مفقودة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54380" y="2240280"/>
            <a:ext cx="31546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l" indent="0" marL="0">
              <a:buNone/>
            </a:pPr>
            <a:r>
              <a:rPr lang="en-US" sz="1200" dirty="0">
                <a:solidFill>
                  <a:srgbClr val="2F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بطء الكاشير وطوابير العملاء → فقدان 5-12% من الإيراد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320540" y="1463040"/>
            <a:ext cx="352044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503420" y="16002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📦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5097780" y="1645920"/>
            <a:ext cx="2606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16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مخزون غير دقيق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4503420" y="2240280"/>
            <a:ext cx="31546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l" indent="0" marL="0">
              <a:buNone/>
            </a:pPr>
            <a:r>
              <a:rPr lang="en-US" sz="1200" dirty="0">
                <a:solidFill>
                  <a:srgbClr val="2F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بيع بضاعة غير موجودة، نفاد غير متوقع بين الفروع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069580" y="1463040"/>
            <a:ext cx="352044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8252460" y="16002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🧾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8846820" y="1645920"/>
            <a:ext cx="2606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16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فواتير ضائعة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8252460" y="2240280"/>
            <a:ext cx="31546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l" indent="0" marL="0">
              <a:buNone/>
            </a:pPr>
            <a:r>
              <a:rPr lang="en-US" sz="1200" dirty="0">
                <a:solidFill>
                  <a:srgbClr val="2F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فواتير مكررة ورقياً، نزاعات مع العملاء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71500" y="3246120"/>
            <a:ext cx="352044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27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754380" y="338328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🔀</a:t>
            </a:r>
            <a:endParaRPr lang="en-US" sz="2800" dirty="0"/>
          </a:p>
        </p:txBody>
      </p:sp>
      <p:sp>
        <p:nvSpPr>
          <p:cNvPr id="17" name="Text 15"/>
          <p:cNvSpPr/>
          <p:nvPr/>
        </p:nvSpPr>
        <p:spPr>
          <a:xfrm>
            <a:off x="1348740" y="3429000"/>
            <a:ext cx="2606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16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تعدد الفروع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754380" y="4023360"/>
            <a:ext cx="31546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l" indent="0" marL="0">
              <a:buNone/>
            </a:pPr>
            <a:r>
              <a:rPr lang="en-US" sz="1200" dirty="0">
                <a:solidFill>
                  <a:srgbClr val="2F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لا مزامنة فورية، ذمم غير متوازنة، قرارات خاطئة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320540" y="3246120"/>
            <a:ext cx="352044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27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503420" y="338328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📊</a:t>
            </a:r>
            <a:endParaRPr lang="en-US" sz="2800" dirty="0"/>
          </a:p>
        </p:txBody>
      </p:sp>
      <p:sp>
        <p:nvSpPr>
          <p:cNvPr id="21" name="Text 19"/>
          <p:cNvSpPr/>
          <p:nvPr/>
        </p:nvSpPr>
        <p:spPr>
          <a:xfrm>
            <a:off x="5097780" y="3429000"/>
            <a:ext cx="2606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16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نقص تقارير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4503420" y="4023360"/>
            <a:ext cx="31546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l" indent="0" marL="0">
              <a:buNone/>
            </a:pPr>
            <a:r>
              <a:rPr lang="en-US" sz="1200" dirty="0">
                <a:solidFill>
                  <a:srgbClr val="2F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عمى إداري، شراء غير مدروس، رأس مال مجمد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8069580" y="3246120"/>
            <a:ext cx="352044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27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8252460" y="338328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💰</a:t>
            </a:r>
            <a:endParaRPr lang="en-US" sz="2800" dirty="0"/>
          </a:p>
        </p:txBody>
      </p:sp>
      <p:sp>
        <p:nvSpPr>
          <p:cNvPr id="25" name="Text 23"/>
          <p:cNvSpPr/>
          <p:nvPr/>
        </p:nvSpPr>
        <p:spPr>
          <a:xfrm>
            <a:off x="8846820" y="3429000"/>
            <a:ext cx="2606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16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التخليص الجمركي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8252460" y="4023360"/>
            <a:ext cx="31546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l" indent="0" marL="0">
              <a:buNone/>
            </a:pPr>
            <a:r>
              <a:rPr lang="en-US" sz="1200" dirty="0">
                <a:solidFill>
                  <a:srgbClr val="2F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تكاليف استيراد غير محتسبة → هامش ربح وهمي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14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KWPOS — الحل المتكامل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28016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1800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منصة واحدة مدمجة تغطي رحلة المنتج كاملة: من الشراء إلى التخليص إلى البيع إلى المحاسبة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02920" y="2103120"/>
            <a:ext cx="2651760" cy="1371600"/>
          </a:xfrm>
          <a:prstGeom prst="roundRect">
            <a:avLst>
              <a:gd name="adj" fmla="val 5333"/>
            </a:avLst>
          </a:prstGeom>
          <a:solidFill>
            <a:srgbClr val="2A2018"/>
          </a:solidFill>
          <a:ln w="12700">
            <a:solidFill>
              <a:srgbClr val="2A201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2240280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85800" y="269748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نقاط البيع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85800" y="306324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l" indent="0" marL="0">
              <a:buNone/>
            </a:pPr>
            <a:r>
              <a:rPr lang="en-US" sz="1100" dirty="0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وضع قياسي + سريع + باركود عالمي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337560" y="2103120"/>
            <a:ext cx="2651760" cy="1371600"/>
          </a:xfrm>
          <a:prstGeom prst="roundRect">
            <a:avLst>
              <a:gd name="adj" fmla="val 5333"/>
            </a:avLst>
          </a:prstGeom>
          <a:solidFill>
            <a:srgbClr val="2A2018"/>
          </a:solidFill>
          <a:ln w="12700">
            <a:solidFill>
              <a:srgbClr val="2A201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520440" y="2240280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3520440" y="269748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الفواتير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3520440" y="306324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l" indent="0" marL="0">
              <a:buNone/>
            </a:pPr>
            <a:r>
              <a:rPr lang="en-US" sz="1100" dirty="0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مرتجع جزئي + إلغاء + طباعة حرارية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172200" y="2103120"/>
            <a:ext cx="2651760" cy="1371600"/>
          </a:xfrm>
          <a:prstGeom prst="roundRect">
            <a:avLst>
              <a:gd name="adj" fmla="val 5333"/>
            </a:avLst>
          </a:prstGeom>
          <a:solidFill>
            <a:srgbClr val="2A2018"/>
          </a:solidFill>
          <a:ln w="12700">
            <a:solidFill>
              <a:srgbClr val="2A201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55080" y="2240280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6355080" y="269748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المخزون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355080" y="306324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l" indent="0" marL="0">
              <a:buNone/>
            </a:pPr>
            <a:r>
              <a:rPr lang="en-US" sz="1100" dirty="0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مخازن متعددة + 9 أنواع حركة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9006840" y="2103120"/>
            <a:ext cx="2651760" cy="1371600"/>
          </a:xfrm>
          <a:prstGeom prst="roundRect">
            <a:avLst>
              <a:gd name="adj" fmla="val 5333"/>
            </a:avLst>
          </a:prstGeom>
          <a:solidFill>
            <a:srgbClr val="2A2018"/>
          </a:solidFill>
          <a:ln w="12700">
            <a:solidFill>
              <a:srgbClr val="2A201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89720" y="2240280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9189720" y="269748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المشتريات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9189720" y="306324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l" indent="0" marL="0">
              <a:buNone/>
            </a:pPr>
            <a:r>
              <a:rPr lang="en-US" sz="1100" dirty="0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أوامر شراء + ملاحق جمركية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02920" y="3657600"/>
            <a:ext cx="2651760" cy="1371600"/>
          </a:xfrm>
          <a:prstGeom prst="roundRect">
            <a:avLst>
              <a:gd name="adj" fmla="val 5333"/>
            </a:avLst>
          </a:prstGeom>
          <a:solidFill>
            <a:srgbClr val="2A2018"/>
          </a:solidFill>
          <a:ln w="12700">
            <a:solidFill>
              <a:srgbClr val="2A201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85800" y="3794760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685800" y="425196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التركيبات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685800" y="461772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l" indent="0" marL="0">
              <a:buNone/>
            </a:pPr>
            <a:r>
              <a:rPr lang="en-US" sz="1100" dirty="0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مصنع صغير + إنتاج دفعات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3337560" y="3657600"/>
            <a:ext cx="2651760" cy="1371600"/>
          </a:xfrm>
          <a:prstGeom prst="roundRect">
            <a:avLst>
              <a:gd name="adj" fmla="val 5333"/>
            </a:avLst>
          </a:prstGeom>
          <a:solidFill>
            <a:srgbClr val="2A2018"/>
          </a:solidFill>
          <a:ln w="12700">
            <a:solidFill>
              <a:srgbClr val="2A201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520440" y="3794760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3520440" y="425196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المحاسبة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3520440" y="461772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l" indent="0" marL="0">
              <a:buNone/>
            </a:pPr>
            <a:r>
              <a:rPr lang="en-US" sz="1100" dirty="0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قيد مزدوج + ميزان + قائمة دخل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172200" y="3657600"/>
            <a:ext cx="2651760" cy="1371600"/>
          </a:xfrm>
          <a:prstGeom prst="roundRect">
            <a:avLst>
              <a:gd name="adj" fmla="val 5333"/>
            </a:avLst>
          </a:prstGeom>
          <a:solidFill>
            <a:srgbClr val="2A2018"/>
          </a:solidFill>
          <a:ln w="12700">
            <a:solidFill>
              <a:srgbClr val="2A201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355080" y="3794760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2200" dirty="0"/>
          </a:p>
        </p:txBody>
      </p:sp>
      <p:sp>
        <p:nvSpPr>
          <p:cNvPr id="30" name="Text 28"/>
          <p:cNvSpPr/>
          <p:nvPr/>
        </p:nvSpPr>
        <p:spPr>
          <a:xfrm>
            <a:off x="6355080" y="425196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الورديات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6355080" y="461772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l" indent="0" marL="0">
              <a:buNone/>
            </a:pPr>
            <a:r>
              <a:rPr lang="en-US" sz="1100" dirty="0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فتح/إغلاق + فروقات + اعتماد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9006840" y="3657600"/>
            <a:ext cx="2651760" cy="1371600"/>
          </a:xfrm>
          <a:prstGeom prst="roundRect">
            <a:avLst>
              <a:gd name="adj" fmla="val 5333"/>
            </a:avLst>
          </a:prstGeom>
          <a:solidFill>
            <a:srgbClr val="2A2018"/>
          </a:solidFill>
          <a:ln w="12700">
            <a:solidFill>
              <a:srgbClr val="2A201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189720" y="3794760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2200" dirty="0"/>
          </a:p>
        </p:txBody>
      </p:sp>
      <p:sp>
        <p:nvSpPr>
          <p:cNvPr id="34" name="Text 32"/>
          <p:cNvSpPr/>
          <p:nvPr/>
        </p:nvSpPr>
        <p:spPr>
          <a:xfrm>
            <a:off x="9189720" y="425196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التقارير</a:t>
            </a:r>
            <a:endParaRPr lang="en-US" sz="1600" dirty="0"/>
          </a:p>
        </p:txBody>
      </p:sp>
      <p:sp>
        <p:nvSpPr>
          <p:cNvPr id="35" name="Text 33"/>
          <p:cNvSpPr/>
          <p:nvPr/>
        </p:nvSpPr>
        <p:spPr>
          <a:xfrm>
            <a:off x="9189720" y="461772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l" indent="0" marL="0">
              <a:buNone/>
            </a:pPr>
            <a:r>
              <a:rPr lang="en-US" sz="1100" dirty="0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تقارير + تصدير Excel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3200" b="1" dirty="0">
                <a:solidFill>
                  <a:srgbClr val="2F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الأدوار السبعة — صلاحيات دقيقة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11247120" cy="457200"/>
          </a:xfrm>
          <a:prstGeom prst="roundRect">
            <a:avLst>
              <a:gd name="adj" fmla="val 16000"/>
            </a:avLst>
          </a:prstGeom>
          <a:solidFill>
            <a:srgbClr val="B85042"/>
          </a:solidFill>
          <a:ln w="12700">
            <a:solidFill>
              <a:srgbClr val="B8504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109728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الدور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2286000" y="109728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الاسم العربي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206240" y="109728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الصلاحيات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9784080" y="109728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الصفحات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1554480"/>
            <a:ext cx="11247120" cy="521208"/>
          </a:xfrm>
          <a:prstGeom prst="roundRect">
            <a:avLst>
              <a:gd name="adj" fmla="val 1403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1554480"/>
            <a:ext cx="1645920" cy="5212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2286000" y="1554480"/>
            <a:ext cx="1828800" cy="5212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2F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المالك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206240" y="1554480"/>
            <a:ext cx="5486400" cy="5212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rgbClr val="2F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صلاحيات كاملة + لوحة المالك الحصرية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9784080" y="1554480"/>
            <a:ext cx="1828800" cy="5212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rgbClr val="8A7E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 صفحة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2121408"/>
            <a:ext cx="11247120" cy="521208"/>
          </a:xfrm>
          <a:prstGeom prst="roundRect">
            <a:avLst>
              <a:gd name="adj" fmla="val 14035"/>
            </a:avLst>
          </a:prstGeom>
          <a:solidFill>
            <a:srgbClr val="E7E8D1"/>
          </a:solidFill>
          <a:ln w="12700">
            <a:solidFill>
              <a:srgbClr val="E7E8D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0" y="2121408"/>
            <a:ext cx="1645920" cy="5212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8B5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2286000" y="2121408"/>
            <a:ext cx="1828800" cy="5212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2F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مدير النظام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206240" y="2121408"/>
            <a:ext cx="5486400" cy="5212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rgbClr val="2F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إدارة كاملة + الإعدادات + المستخدمون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9784080" y="2121408"/>
            <a:ext cx="1828800" cy="5212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rgbClr val="8A7E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 صفحة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57200" y="2688336"/>
            <a:ext cx="11247120" cy="521208"/>
          </a:xfrm>
          <a:prstGeom prst="roundRect">
            <a:avLst>
              <a:gd name="adj" fmla="val 1403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48640" y="2688336"/>
            <a:ext cx="1645920" cy="5212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MANAGER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2286000" y="2688336"/>
            <a:ext cx="1828800" cy="5212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2F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المدير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206240" y="2688336"/>
            <a:ext cx="5486400" cy="5212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rgbClr val="2F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مبيعات + تقارير + ورديات + اعتمادات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9784080" y="2688336"/>
            <a:ext cx="1828800" cy="5212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rgbClr val="8A7E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صفحة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457200" y="3255264"/>
            <a:ext cx="11247120" cy="521208"/>
          </a:xfrm>
          <a:prstGeom prst="roundRect">
            <a:avLst>
              <a:gd name="adj" fmla="val 14035"/>
            </a:avLst>
          </a:prstGeom>
          <a:solidFill>
            <a:srgbClr val="E7E8D1"/>
          </a:solidFill>
          <a:ln w="12700">
            <a:solidFill>
              <a:srgbClr val="E7E8D1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48640" y="3255264"/>
            <a:ext cx="1645920" cy="5212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ACCOUNTANT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2286000" y="3255264"/>
            <a:ext cx="1828800" cy="5212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2F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محاسب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4206240" y="3255264"/>
            <a:ext cx="5486400" cy="5212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rgbClr val="2F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محاسبة + تقارير + موردين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9784080" y="3255264"/>
            <a:ext cx="1828800" cy="5212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rgbClr val="8A7E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صفحات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457200" y="3822192"/>
            <a:ext cx="11247120" cy="521208"/>
          </a:xfrm>
          <a:prstGeom prst="roundRect">
            <a:avLst>
              <a:gd name="adj" fmla="val 1403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48640" y="3822192"/>
            <a:ext cx="1645920" cy="5212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B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WAREHOUSE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2286000" y="3822192"/>
            <a:ext cx="1828800" cy="5212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2F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أمين مخزن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4206240" y="3822192"/>
            <a:ext cx="5486400" cy="5212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rgbClr val="2F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مخزون + مشتريات + تركيبات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9784080" y="3822192"/>
            <a:ext cx="1828800" cy="5212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rgbClr val="8A7E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صفحات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457200" y="4389120"/>
            <a:ext cx="11247120" cy="521208"/>
          </a:xfrm>
          <a:prstGeom prst="roundRect">
            <a:avLst>
              <a:gd name="adj" fmla="val 14035"/>
            </a:avLst>
          </a:prstGeom>
          <a:solidFill>
            <a:srgbClr val="E7E8D1"/>
          </a:solidFill>
          <a:ln w="12700">
            <a:solidFill>
              <a:srgbClr val="E7E8D1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48640" y="4389120"/>
            <a:ext cx="1645920" cy="5212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B89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2286000" y="4389120"/>
            <a:ext cx="1828800" cy="5212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2F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موظف مبيعات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4206240" y="4389120"/>
            <a:ext cx="5486400" cy="5212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rgbClr val="2F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 + فواتير + عملاء + تبديل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9784080" y="4389120"/>
            <a:ext cx="1828800" cy="5212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rgbClr val="8A7E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صفحة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457200" y="4956048"/>
            <a:ext cx="11247120" cy="521208"/>
          </a:xfrm>
          <a:prstGeom prst="roundRect">
            <a:avLst>
              <a:gd name="adj" fmla="val 1403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48640" y="4956048"/>
            <a:ext cx="1645920" cy="5212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9E7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CASHIER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2286000" y="4956048"/>
            <a:ext cx="1828800" cy="5212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2F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كاشير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4206240" y="4956048"/>
            <a:ext cx="5486400" cy="5212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rgbClr val="2F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 فقط + الورديات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9784080" y="4956048"/>
            <a:ext cx="1828800" cy="5212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rgbClr val="8A7E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صفحات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A14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نقاط البيع — سرعة + دقة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71500" y="1554480"/>
            <a:ext cx="3520440" cy="1371600"/>
          </a:xfrm>
          <a:prstGeom prst="roundRect">
            <a:avLst>
              <a:gd name="adj" fmla="val 5333"/>
            </a:avLst>
          </a:prstGeom>
          <a:solidFill>
            <a:srgbClr val="2A2018"/>
          </a:solidFill>
          <a:ln w="12700">
            <a:solidFill>
              <a:srgbClr val="2A201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08660" y="16916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🛒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211580" y="1737360"/>
            <a:ext cx="2697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1500" b="1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الوضع القياسي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54380" y="2240280"/>
            <a:ext cx="31546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l" indent="0" marL="0">
              <a:buNone/>
            </a:pPr>
            <a:r>
              <a:rPr lang="en-US" sz="1100" dirty="0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شريط جانبي كامل + بحث + بطاقات منتجات + سلة كاملة + دفع متعدد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320540" y="1554480"/>
            <a:ext cx="3520440" cy="1371600"/>
          </a:xfrm>
          <a:prstGeom prst="roundRect">
            <a:avLst>
              <a:gd name="adj" fmla="val 5333"/>
            </a:avLst>
          </a:prstGeom>
          <a:solidFill>
            <a:srgbClr val="2A2018"/>
          </a:solidFill>
          <a:ln w="12700">
            <a:solidFill>
              <a:srgbClr val="2A201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457700" y="16916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⚡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4960620" y="1737360"/>
            <a:ext cx="2697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1500" b="1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الوضع السريع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503420" y="2240280"/>
            <a:ext cx="31546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l" indent="0" marL="0">
              <a:buNone/>
            </a:pPr>
            <a:r>
              <a:rPr lang="en-US" sz="1100" dirty="0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شاشة كاملة + باركود كبير + بطاقات كبيرة + أزرار دفع ضخمة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69580" y="1554480"/>
            <a:ext cx="3520440" cy="1371600"/>
          </a:xfrm>
          <a:prstGeom prst="roundRect">
            <a:avLst>
              <a:gd name="adj" fmla="val 5333"/>
            </a:avLst>
          </a:prstGeom>
          <a:solidFill>
            <a:srgbClr val="2A2018"/>
          </a:solidFill>
          <a:ln w="12700">
            <a:solidFill>
              <a:srgbClr val="2A201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06740" y="16916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📷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8709660" y="1737360"/>
            <a:ext cx="2697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1500" b="1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قارئ باركود عالمي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8252460" y="2240280"/>
            <a:ext cx="31546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l" indent="0" marL="0">
              <a:buNone/>
            </a:pPr>
            <a:r>
              <a:rPr lang="en-US" sz="1100" dirty="0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USB HID + كشف المسح السريع 5-15ms + focus دائم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71500" y="3154680"/>
            <a:ext cx="3520440" cy="1371600"/>
          </a:xfrm>
          <a:prstGeom prst="roundRect">
            <a:avLst>
              <a:gd name="adj" fmla="val 5333"/>
            </a:avLst>
          </a:prstGeom>
          <a:solidFill>
            <a:srgbClr val="2A2018"/>
          </a:solidFill>
          <a:ln w="12700">
            <a:solidFill>
              <a:srgbClr val="2A201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08660" y="32918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👤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1211580" y="3337560"/>
            <a:ext cx="2697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1500" b="1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ربط عميل بالهاتف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754380" y="3840480"/>
            <a:ext cx="31546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l" indent="0" marL="0">
              <a:buNone/>
            </a:pPr>
            <a:r>
              <a:rPr lang="en-US" sz="1100" dirty="0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بحث بالهاتف + نقاط ولاء + تاريخ المشتريات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320540" y="3154680"/>
            <a:ext cx="3520440" cy="1371600"/>
          </a:xfrm>
          <a:prstGeom prst="roundRect">
            <a:avLst>
              <a:gd name="adj" fmla="val 5333"/>
            </a:avLst>
          </a:prstGeom>
          <a:solidFill>
            <a:srgbClr val="2A2018"/>
          </a:solidFill>
          <a:ln w="12700">
            <a:solidFill>
              <a:srgbClr val="2A201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457700" y="32918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⏸️</a:t>
            </a:r>
            <a:endParaRPr lang="en-US" sz="2400" dirty="0"/>
          </a:p>
        </p:txBody>
      </p:sp>
      <p:sp>
        <p:nvSpPr>
          <p:cNvPr id="21" name="Text 19"/>
          <p:cNvSpPr/>
          <p:nvPr/>
        </p:nvSpPr>
        <p:spPr>
          <a:xfrm>
            <a:off x="4960620" y="3337560"/>
            <a:ext cx="2697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1500" b="1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فواتير معلّقة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4503420" y="3840480"/>
            <a:ext cx="31546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l" indent="0" marL="0">
              <a:buNone/>
            </a:pPr>
            <a:r>
              <a:rPr lang="en-US" sz="1100" dirty="0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تعليق + استئناف + استبدال السلة + حذف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8069580" y="3154680"/>
            <a:ext cx="3520440" cy="1371600"/>
          </a:xfrm>
          <a:prstGeom prst="roundRect">
            <a:avLst>
              <a:gd name="adj" fmla="val 5333"/>
            </a:avLst>
          </a:prstGeom>
          <a:solidFill>
            <a:srgbClr val="2A2018"/>
          </a:solidFill>
          <a:ln w="12700">
            <a:solidFill>
              <a:srgbClr val="2A201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206740" y="32918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🖨️</a:t>
            </a:r>
            <a:endParaRPr lang="en-US" sz="2400" dirty="0"/>
          </a:p>
        </p:txBody>
      </p:sp>
      <p:sp>
        <p:nvSpPr>
          <p:cNvPr id="25" name="Text 23"/>
          <p:cNvSpPr/>
          <p:nvPr/>
        </p:nvSpPr>
        <p:spPr>
          <a:xfrm>
            <a:off x="8709660" y="3337560"/>
            <a:ext cx="2697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1500" b="1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طباعة حرارية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8252460" y="3840480"/>
            <a:ext cx="31546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l" indent="0" marL="0">
              <a:buNone/>
            </a:pPr>
            <a:r>
              <a:rPr lang="en-US" sz="1100" dirty="0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إيصال 80mm + فاتورة A4 + شعار الشركة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548640" y="5943600"/>
            <a:ext cx="11064240" cy="640080"/>
          </a:xfrm>
          <a:prstGeom prst="roundRect">
            <a:avLst>
              <a:gd name="adj" fmla="val 8571"/>
            </a:avLst>
          </a:prstGeom>
          <a:solidFill>
            <a:srgbClr val="B85042"/>
          </a:solidFill>
          <a:ln w="12700">
            <a:solidFill>
              <a:srgbClr val="B85042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48640" y="594360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اختصارات: F2 = دفع  •  Ctrl+Enter = تأكيد  •  Esc = تفريغ  •  Ctrl+K = بحث شامل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3200" b="1" dirty="0">
                <a:solidFill>
                  <a:srgbClr val="2F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المخزون والفروع المتعددة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627632"/>
            <a:ext cx="228600" cy="228600"/>
          </a:xfrm>
          <a:prstGeom prst="ellipse">
            <a:avLst/>
          </a:prstGeom>
          <a:solidFill>
            <a:srgbClr val="B85042"/>
          </a:solidFill>
          <a:ln w="12700">
            <a:solidFill>
              <a:srgbClr val="B8504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14400" y="155448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1300" dirty="0">
                <a:solidFill>
                  <a:srgbClr val="2F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مخازن متعددة بكميات مستقلة لكل منتج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2130552"/>
            <a:ext cx="228600" cy="228600"/>
          </a:xfrm>
          <a:prstGeom prst="ellipse">
            <a:avLst/>
          </a:prstGeom>
          <a:solidFill>
            <a:srgbClr val="B85042"/>
          </a:solidFill>
          <a:ln w="12700">
            <a:solidFill>
              <a:srgbClr val="B8504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205740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1300" dirty="0">
                <a:solidFill>
                  <a:srgbClr val="2F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أنواع حركة مخزون (بيع/مرتجع/تبديل/شراء/...)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" y="2633472"/>
            <a:ext cx="228600" cy="228600"/>
          </a:xfrm>
          <a:prstGeom prst="ellipse">
            <a:avLst/>
          </a:prstGeom>
          <a:solidFill>
            <a:srgbClr val="B85042"/>
          </a:solidFill>
          <a:ln w="12700">
            <a:solidFill>
              <a:srgbClr val="B8504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256032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1300" dirty="0">
                <a:solidFill>
                  <a:srgbClr val="2F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خصم atomic يمنع race conditions في البيع المتزامن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48640" y="3136392"/>
            <a:ext cx="228600" cy="228600"/>
          </a:xfrm>
          <a:prstGeom prst="ellipse">
            <a:avLst/>
          </a:prstGeom>
          <a:solidFill>
            <a:srgbClr val="B85042"/>
          </a:solidFill>
          <a:ln w="12700">
            <a:solidFill>
              <a:srgbClr val="B8504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0" y="306324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1300" dirty="0">
                <a:solidFill>
                  <a:srgbClr val="2F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تحويلات بين المخازن (شحنة صادرة + واردة)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8640" y="3639312"/>
            <a:ext cx="228600" cy="228600"/>
          </a:xfrm>
          <a:prstGeom prst="ellipse">
            <a:avLst/>
          </a:prstGeom>
          <a:solidFill>
            <a:srgbClr val="B85042"/>
          </a:solidFill>
          <a:ln w="12700">
            <a:solidFill>
              <a:srgbClr val="B8504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14400" y="356616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1300" dirty="0">
                <a:solidFill>
                  <a:srgbClr val="2F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جرد كامل + جرد أعمى (بدون رصيد دفتري)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48640" y="4142232"/>
            <a:ext cx="228600" cy="228600"/>
          </a:xfrm>
          <a:prstGeom prst="ellipse">
            <a:avLst/>
          </a:prstGeom>
          <a:solidFill>
            <a:srgbClr val="B85042"/>
          </a:solidFill>
          <a:ln w="12700">
            <a:solidFill>
              <a:srgbClr val="B8504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14400" y="406908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1300" dirty="0">
                <a:solidFill>
                  <a:srgbClr val="2F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حذف ناعم + استعادة للمنتجات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48640" y="4645152"/>
            <a:ext cx="228600" cy="228600"/>
          </a:xfrm>
          <a:prstGeom prst="ellipse">
            <a:avLst/>
          </a:prstGeom>
          <a:solidFill>
            <a:srgbClr val="B85042"/>
          </a:solidFill>
          <a:ln w="12700">
            <a:solidFill>
              <a:srgbClr val="B8504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14400" y="457200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1300" dirty="0">
                <a:solidFill>
                  <a:srgbClr val="2F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تقرير حركة المخزون لكل صنف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48640" y="5148072"/>
            <a:ext cx="228600" cy="228600"/>
          </a:xfrm>
          <a:prstGeom prst="ellipse">
            <a:avLst/>
          </a:prstGeom>
          <a:solidFill>
            <a:srgbClr val="B85042"/>
          </a:solidFill>
          <a:ln w="12700">
            <a:solidFill>
              <a:srgbClr val="B8504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4400" y="507492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1300" dirty="0">
                <a:solidFill>
                  <a:srgbClr val="2F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تتبع التكلفة الفعلية مع رسملة الجمارك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858000" y="1554480"/>
            <a:ext cx="4754880" cy="4114800"/>
          </a:xfrm>
          <a:prstGeom prst="roundRect">
            <a:avLst>
              <a:gd name="adj" fmla="val 1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27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7040880" y="1737360"/>
            <a:ext cx="4389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7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أنواع حركة المخزون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7132320" y="228600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9235440" y="228600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1100" dirty="0">
                <a:solidFill>
                  <a:srgbClr val="2F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بيع → خصم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7132320" y="26974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REFUND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9235440" y="269748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1100" dirty="0">
                <a:solidFill>
                  <a:srgbClr val="2F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مرتجع مبيعات → إضافة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7132320" y="310896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EXCHANGE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9235440" y="310896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1100" dirty="0">
                <a:solidFill>
                  <a:srgbClr val="2F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تبديل → ±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7132320" y="352044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PURCHASE_INVOICE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9235440" y="352044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1100" dirty="0">
                <a:solidFill>
                  <a:srgbClr val="2F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فاتورة مشتريات → إضافة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7132320" y="393192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PURCHASE_RETURN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9235440" y="393192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1100" dirty="0">
                <a:solidFill>
                  <a:srgbClr val="2F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مرتجع مشتريات → خصم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7132320" y="434340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TRANSFER_OUT/IN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9235440" y="434340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1100" dirty="0">
                <a:solidFill>
                  <a:srgbClr val="2F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تحويل بين المخازن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7132320" y="47548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STOCK_TAKE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9235440" y="475488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1100" dirty="0">
                <a:solidFill>
                  <a:srgbClr val="2F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جرد → تسوية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7132320" y="516636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SPOT_CHECK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9235440" y="516636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1100" dirty="0">
                <a:solidFill>
                  <a:srgbClr val="2F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جرد أعمى مفاجئ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A14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محاسبة ذات قيد مزدوج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28016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1600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حساب جاهز + قيود تلقائية على كل عملية + تقارير مالية كاملة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320040" y="2011680"/>
            <a:ext cx="2194560" cy="914400"/>
          </a:xfrm>
          <a:prstGeom prst="roundRect">
            <a:avLst>
              <a:gd name="adj" fmla="val 8000"/>
            </a:avLst>
          </a:prstGeom>
          <a:solidFill>
            <a:srgbClr val="2A2018"/>
          </a:solidFill>
          <a:ln w="12700">
            <a:solidFill>
              <a:srgbClr val="2A201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210312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1010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11480" y="246888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النقدية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11480" y="2724912"/>
            <a:ext cx="20116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900" dirty="0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أصل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651760" y="2011680"/>
            <a:ext cx="2194560" cy="914400"/>
          </a:xfrm>
          <a:prstGeom prst="roundRect">
            <a:avLst>
              <a:gd name="adj" fmla="val 8000"/>
            </a:avLst>
          </a:prstGeom>
          <a:solidFill>
            <a:srgbClr val="2A2018"/>
          </a:solidFill>
          <a:ln w="12700">
            <a:solidFill>
              <a:srgbClr val="2A201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743200" y="210312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1020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2743200" y="246888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البنك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2743200" y="2724912"/>
            <a:ext cx="20116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900" dirty="0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أصل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983480" y="2011680"/>
            <a:ext cx="2194560" cy="914400"/>
          </a:xfrm>
          <a:prstGeom prst="roundRect">
            <a:avLst>
              <a:gd name="adj" fmla="val 8000"/>
            </a:avLst>
          </a:prstGeom>
          <a:solidFill>
            <a:srgbClr val="2A2018"/>
          </a:solidFill>
          <a:ln w="12700">
            <a:solidFill>
              <a:srgbClr val="2A201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74920" y="210312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1100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5074920" y="246888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المخزون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074920" y="2724912"/>
            <a:ext cx="20116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900" dirty="0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أصل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7315200" y="2011680"/>
            <a:ext cx="2194560" cy="914400"/>
          </a:xfrm>
          <a:prstGeom prst="roundRect">
            <a:avLst>
              <a:gd name="adj" fmla="val 8000"/>
            </a:avLst>
          </a:prstGeom>
          <a:solidFill>
            <a:srgbClr val="2A2018"/>
          </a:solidFill>
          <a:ln w="12700">
            <a:solidFill>
              <a:srgbClr val="2A201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406640" y="210312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2010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7406640" y="246888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ذمم دائنة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7406640" y="2724912"/>
            <a:ext cx="20116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900" dirty="0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خصم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9646920" y="2011680"/>
            <a:ext cx="2194560" cy="914400"/>
          </a:xfrm>
          <a:prstGeom prst="roundRect">
            <a:avLst>
              <a:gd name="adj" fmla="val 8000"/>
            </a:avLst>
          </a:prstGeom>
          <a:solidFill>
            <a:srgbClr val="2A2018"/>
          </a:solidFill>
          <a:ln w="12700">
            <a:solidFill>
              <a:srgbClr val="2A201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738360" y="210312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2020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9738360" y="246888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عجز وردية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9738360" y="2724912"/>
            <a:ext cx="20116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900" dirty="0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خصم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320040" y="3063240"/>
            <a:ext cx="2194560" cy="914400"/>
          </a:xfrm>
          <a:prstGeom prst="roundRect">
            <a:avLst>
              <a:gd name="adj" fmla="val 8000"/>
            </a:avLst>
          </a:prstGeom>
          <a:solidFill>
            <a:srgbClr val="2A2018"/>
          </a:solidFill>
          <a:ln w="12700">
            <a:solidFill>
              <a:srgbClr val="2A201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11480" y="31546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2110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411480" y="352044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ضريبة مستحقة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411480" y="3776472"/>
            <a:ext cx="20116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900" dirty="0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خصم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2651760" y="3063240"/>
            <a:ext cx="2194560" cy="914400"/>
          </a:xfrm>
          <a:prstGeom prst="roundRect">
            <a:avLst>
              <a:gd name="adj" fmla="val 8000"/>
            </a:avLst>
          </a:prstGeom>
          <a:solidFill>
            <a:srgbClr val="2A2018"/>
          </a:solidFill>
          <a:ln w="12700">
            <a:solidFill>
              <a:srgbClr val="2A201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743200" y="31546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3010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2743200" y="352044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رأس المال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2743200" y="3776472"/>
            <a:ext cx="20116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900" dirty="0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حقوق ملكية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4983480" y="3063240"/>
            <a:ext cx="2194560" cy="914400"/>
          </a:xfrm>
          <a:prstGeom prst="roundRect">
            <a:avLst>
              <a:gd name="adj" fmla="val 8000"/>
            </a:avLst>
          </a:prstGeom>
          <a:solidFill>
            <a:srgbClr val="2A2018"/>
          </a:solidFill>
          <a:ln w="12700">
            <a:solidFill>
              <a:srgbClr val="2A201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074920" y="31546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4010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5074920" y="352044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إيراد مبيعات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5074920" y="3776472"/>
            <a:ext cx="20116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900" dirty="0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إيراد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7315200" y="3063240"/>
            <a:ext cx="2194560" cy="914400"/>
          </a:xfrm>
          <a:prstGeom prst="roundRect">
            <a:avLst>
              <a:gd name="adj" fmla="val 8000"/>
            </a:avLst>
          </a:prstGeom>
          <a:solidFill>
            <a:srgbClr val="2A2018"/>
          </a:solidFill>
          <a:ln w="12700">
            <a:solidFill>
              <a:srgbClr val="2A2018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406640" y="31546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4060</a:t>
            </a:r>
            <a:endParaRPr lang="en-US" sz="1800" dirty="0"/>
          </a:p>
        </p:txBody>
      </p:sp>
      <p:sp>
        <p:nvSpPr>
          <p:cNvPr id="38" name="Text 36"/>
          <p:cNvSpPr/>
          <p:nvPr/>
        </p:nvSpPr>
        <p:spPr>
          <a:xfrm>
            <a:off x="7406640" y="352044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فائض تسوية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7406640" y="3776472"/>
            <a:ext cx="20116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900" dirty="0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إيراد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9646920" y="3063240"/>
            <a:ext cx="2194560" cy="914400"/>
          </a:xfrm>
          <a:prstGeom prst="roundRect">
            <a:avLst>
              <a:gd name="adj" fmla="val 8000"/>
            </a:avLst>
          </a:prstGeom>
          <a:solidFill>
            <a:srgbClr val="2A2018"/>
          </a:solidFill>
          <a:ln w="12700">
            <a:solidFill>
              <a:srgbClr val="2A201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9738360" y="31546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5070</a:t>
            </a:r>
            <a:endParaRPr lang="en-US" sz="1800" dirty="0"/>
          </a:p>
        </p:txBody>
      </p:sp>
      <p:sp>
        <p:nvSpPr>
          <p:cNvPr id="42" name="Text 40"/>
          <p:cNvSpPr/>
          <p:nvPr/>
        </p:nvSpPr>
        <p:spPr>
          <a:xfrm>
            <a:off x="9738360" y="352044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تكلفة البضاعة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9738360" y="3776472"/>
            <a:ext cx="20116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900" dirty="0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مصروف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48640" y="4297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التقارير المالية</a:t>
            </a:r>
            <a:endParaRPr lang="en-US" sz="1700" dirty="0"/>
          </a:p>
        </p:txBody>
      </p:sp>
      <p:sp>
        <p:nvSpPr>
          <p:cNvPr id="45" name="Shape 43"/>
          <p:cNvSpPr/>
          <p:nvPr/>
        </p:nvSpPr>
        <p:spPr>
          <a:xfrm>
            <a:off x="548640" y="4846320"/>
            <a:ext cx="2651760" cy="457200"/>
          </a:xfrm>
          <a:prstGeom prst="roundRect">
            <a:avLst>
              <a:gd name="adj" fmla="val 16000"/>
            </a:avLst>
          </a:prstGeom>
          <a:solidFill>
            <a:srgbClr val="B85042"/>
          </a:solidFill>
          <a:ln w="12700">
            <a:solidFill>
              <a:srgbClr val="B85042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48640" y="484632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ميزان المراجعة</a:t>
            </a:r>
            <a:endParaRPr lang="en-US" sz="1200" dirty="0"/>
          </a:p>
        </p:txBody>
      </p:sp>
      <p:sp>
        <p:nvSpPr>
          <p:cNvPr id="47" name="Shape 45"/>
          <p:cNvSpPr/>
          <p:nvPr/>
        </p:nvSpPr>
        <p:spPr>
          <a:xfrm>
            <a:off x="3383280" y="4846320"/>
            <a:ext cx="2651760" cy="457200"/>
          </a:xfrm>
          <a:prstGeom prst="roundRect">
            <a:avLst>
              <a:gd name="adj" fmla="val 16000"/>
            </a:avLst>
          </a:prstGeom>
          <a:solidFill>
            <a:srgbClr val="B85042"/>
          </a:solidFill>
          <a:ln w="12700">
            <a:solidFill>
              <a:srgbClr val="B85042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383280" y="484632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قائمة الدخل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6217920" y="4846320"/>
            <a:ext cx="2651760" cy="457200"/>
          </a:xfrm>
          <a:prstGeom prst="roundRect">
            <a:avLst>
              <a:gd name="adj" fmla="val 16000"/>
            </a:avLst>
          </a:prstGeom>
          <a:solidFill>
            <a:srgbClr val="B85042"/>
          </a:solidFill>
          <a:ln w="12700">
            <a:solidFill>
              <a:srgbClr val="B85042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217920" y="484632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الميزانية العمومية</a:t>
            </a:r>
            <a:endParaRPr lang="en-US" sz="1200" dirty="0"/>
          </a:p>
        </p:txBody>
      </p:sp>
      <p:sp>
        <p:nvSpPr>
          <p:cNvPr id="51" name="Shape 49"/>
          <p:cNvSpPr/>
          <p:nvPr/>
        </p:nvSpPr>
        <p:spPr>
          <a:xfrm>
            <a:off x="9052560" y="4846320"/>
            <a:ext cx="2651760" cy="457200"/>
          </a:xfrm>
          <a:prstGeom prst="roundRect">
            <a:avLst>
              <a:gd name="adj" fmla="val 16000"/>
            </a:avLst>
          </a:prstGeom>
          <a:solidFill>
            <a:srgbClr val="B85042"/>
          </a:solidFill>
          <a:ln w="12700">
            <a:solidFill>
              <a:srgbClr val="B85042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9052560" y="484632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التدفقات النقدية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548640" y="5394960"/>
            <a:ext cx="2651760" cy="457200"/>
          </a:xfrm>
          <a:prstGeom prst="roundRect">
            <a:avLst>
              <a:gd name="adj" fmla="val 16000"/>
            </a:avLst>
          </a:prstGeom>
          <a:solidFill>
            <a:srgbClr val="B85042"/>
          </a:solidFill>
          <a:ln w="12700">
            <a:solidFill>
              <a:srgbClr val="B85042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48640" y="539496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الأستاذ العام</a:t>
            </a:r>
            <a:endParaRPr lang="en-US" sz="1200" dirty="0"/>
          </a:p>
        </p:txBody>
      </p:sp>
      <p:sp>
        <p:nvSpPr>
          <p:cNvPr id="55" name="Shape 53"/>
          <p:cNvSpPr/>
          <p:nvPr/>
        </p:nvSpPr>
        <p:spPr>
          <a:xfrm>
            <a:off x="3383280" y="5394960"/>
            <a:ext cx="2651760" cy="457200"/>
          </a:xfrm>
          <a:prstGeom prst="roundRect">
            <a:avLst>
              <a:gd name="adj" fmla="val 16000"/>
            </a:avLst>
          </a:prstGeom>
          <a:solidFill>
            <a:srgbClr val="B85042"/>
          </a:solidFill>
          <a:ln w="12700">
            <a:solidFill>
              <a:srgbClr val="B85042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3383280" y="539496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تقرير VAT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6217920" y="5394960"/>
            <a:ext cx="2651760" cy="457200"/>
          </a:xfrm>
          <a:prstGeom prst="roundRect">
            <a:avLst>
              <a:gd name="adj" fmla="val 16000"/>
            </a:avLst>
          </a:prstGeom>
          <a:solidFill>
            <a:srgbClr val="B85042"/>
          </a:solidFill>
          <a:ln w="12700">
            <a:solidFill>
              <a:srgbClr val="B85042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6217920" y="539496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كشف حساب عميل</a:t>
            </a:r>
            <a:endParaRPr lang="en-US" sz="1200" dirty="0"/>
          </a:p>
        </p:txBody>
      </p:sp>
      <p:sp>
        <p:nvSpPr>
          <p:cNvPr id="59" name="Shape 57"/>
          <p:cNvSpPr/>
          <p:nvPr/>
        </p:nvSpPr>
        <p:spPr>
          <a:xfrm>
            <a:off x="9052560" y="5394960"/>
            <a:ext cx="2651760" cy="457200"/>
          </a:xfrm>
          <a:prstGeom prst="roundRect">
            <a:avLst>
              <a:gd name="adj" fmla="val 16000"/>
            </a:avLst>
          </a:prstGeom>
          <a:solidFill>
            <a:srgbClr val="B85042"/>
          </a:solidFill>
          <a:ln w="12700">
            <a:solidFill>
              <a:srgbClr val="B85042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9052560" y="539496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كشف حساب مورد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3200" b="1" dirty="0">
                <a:solidFill>
                  <a:srgbClr val="2F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التقارير والتحليلات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37160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17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تقارير قابلة للتصدير Excel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548640" y="1993392"/>
            <a:ext cx="182880" cy="182880"/>
          </a:xfrm>
          <a:prstGeom prst="ellipse">
            <a:avLst/>
          </a:prstGeom>
          <a:solidFill>
            <a:srgbClr val="C9A961"/>
          </a:solidFill>
          <a:ln w="12700">
            <a:solidFill>
              <a:srgbClr val="C9A96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92024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1200" dirty="0">
                <a:solidFill>
                  <a:srgbClr val="2F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تقرير المبيعات (فلاتر متعددة)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48640" y="2377440"/>
            <a:ext cx="182880" cy="182880"/>
          </a:xfrm>
          <a:prstGeom prst="ellipse">
            <a:avLst/>
          </a:prstGeom>
          <a:solidFill>
            <a:srgbClr val="C9A961"/>
          </a:solidFill>
          <a:ln w="12700">
            <a:solidFill>
              <a:srgbClr val="C9A96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2304288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1200" dirty="0">
                <a:solidFill>
                  <a:srgbClr val="2F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تحليلات المبيعات (5 أنواع)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48640" y="2761488"/>
            <a:ext cx="182880" cy="182880"/>
          </a:xfrm>
          <a:prstGeom prst="ellipse">
            <a:avLst/>
          </a:prstGeom>
          <a:solidFill>
            <a:srgbClr val="C9A961"/>
          </a:solidFill>
          <a:ln w="12700">
            <a:solidFill>
              <a:srgbClr val="C9A9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2688336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1200" dirty="0">
                <a:solidFill>
                  <a:srgbClr val="2F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مصفوفة الأداء (أقسام + منتجات)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3145536"/>
            <a:ext cx="182880" cy="182880"/>
          </a:xfrm>
          <a:prstGeom prst="ellipse">
            <a:avLst/>
          </a:prstGeom>
          <a:solidFill>
            <a:srgbClr val="C9A961"/>
          </a:solidFill>
          <a:ln w="12700">
            <a:solidFill>
              <a:srgbClr val="C9A96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3072384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1200" dirty="0">
                <a:solidFill>
                  <a:srgbClr val="2F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تقرير مؤشر كفاءة المنتج (100 نقطة)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3529584"/>
            <a:ext cx="182880" cy="182880"/>
          </a:xfrm>
          <a:prstGeom prst="ellipse">
            <a:avLst/>
          </a:prstGeom>
          <a:solidFill>
            <a:srgbClr val="C9A961"/>
          </a:solidFill>
          <a:ln w="12700">
            <a:solidFill>
              <a:srgbClr val="C9A96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" y="3456432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1200" dirty="0">
                <a:solidFill>
                  <a:srgbClr val="2F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تقرير المخزون وحركاته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3913632"/>
            <a:ext cx="182880" cy="182880"/>
          </a:xfrm>
          <a:prstGeom prst="ellipse">
            <a:avLst/>
          </a:prstGeom>
          <a:solidFill>
            <a:srgbClr val="C9A961"/>
          </a:solidFill>
          <a:ln w="12700">
            <a:solidFill>
              <a:srgbClr val="C9A96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384048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1200" dirty="0">
                <a:solidFill>
                  <a:srgbClr val="2F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تقرير المشتريات والموردون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48640" y="4297680"/>
            <a:ext cx="182880" cy="182880"/>
          </a:xfrm>
          <a:prstGeom prst="ellipse">
            <a:avLst/>
          </a:prstGeom>
          <a:solidFill>
            <a:srgbClr val="C9A961"/>
          </a:solidFill>
          <a:ln w="12700">
            <a:solidFill>
              <a:srgbClr val="C9A96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22960" y="4224528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1200" dirty="0">
                <a:solidFill>
                  <a:srgbClr val="2F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تقرير الولاء والعملاء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48640" y="4681728"/>
            <a:ext cx="182880" cy="182880"/>
          </a:xfrm>
          <a:prstGeom prst="ellipse">
            <a:avLst/>
          </a:prstGeom>
          <a:solidFill>
            <a:srgbClr val="C9A961"/>
          </a:solidFill>
          <a:ln w="12700">
            <a:solidFill>
              <a:srgbClr val="C9A96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2960" y="4608576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1200" dirty="0">
                <a:solidFill>
                  <a:srgbClr val="2F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تقرير الورديات والفروقات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48640" y="5065776"/>
            <a:ext cx="182880" cy="182880"/>
          </a:xfrm>
          <a:prstGeom prst="ellipse">
            <a:avLst/>
          </a:prstGeom>
          <a:solidFill>
            <a:srgbClr val="C9A961"/>
          </a:solidFill>
          <a:ln w="12700">
            <a:solidFill>
              <a:srgbClr val="C9A96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22960" y="4992624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1200" dirty="0">
                <a:solidFill>
                  <a:srgbClr val="2F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تقرير المرتجعات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48640" y="5449824"/>
            <a:ext cx="182880" cy="182880"/>
          </a:xfrm>
          <a:prstGeom prst="ellipse">
            <a:avLst/>
          </a:prstGeom>
          <a:solidFill>
            <a:srgbClr val="C9A961"/>
          </a:solidFill>
          <a:ln w="12700">
            <a:solidFill>
              <a:srgbClr val="C9A96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22960" y="5376672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1200" dirty="0">
                <a:solidFill>
                  <a:srgbClr val="2F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تقرير سجل التدقيق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6400800" y="1554480"/>
            <a:ext cx="5212080" cy="4572000"/>
          </a:xfrm>
          <a:prstGeom prst="roundRect">
            <a:avLst>
              <a:gd name="adj" fmla="val 16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2700000">
              <a:srgbClr val="000000">
                <a:alpha val="12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6583680" y="1737360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7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مؤشر كفاءة المنتج</a:t>
            </a:r>
            <a:endParaRPr lang="en-US" sz="1700" dirty="0"/>
          </a:p>
        </p:txBody>
      </p:sp>
      <p:sp>
        <p:nvSpPr>
          <p:cNvPr id="26" name="Text 24"/>
          <p:cNvSpPr/>
          <p:nvPr/>
        </p:nvSpPr>
        <p:spPr>
          <a:xfrm>
            <a:off x="6583680" y="2194560"/>
            <a:ext cx="4846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 نقطة</a:t>
            </a:r>
            <a:endParaRPr lang="en-US" sz="3200" dirty="0"/>
          </a:p>
        </p:txBody>
      </p:sp>
      <p:sp>
        <p:nvSpPr>
          <p:cNvPr id="27" name="Shape 25"/>
          <p:cNvSpPr/>
          <p:nvPr/>
        </p:nvSpPr>
        <p:spPr>
          <a:xfrm>
            <a:off x="6949440" y="3017520"/>
            <a:ext cx="640080" cy="640080"/>
          </a:xfrm>
          <a:prstGeom prst="ellipse">
            <a:avLst/>
          </a:prstGeom>
          <a:solidFill>
            <a:srgbClr val="B85042"/>
          </a:solidFill>
          <a:ln w="12700">
            <a:solidFill>
              <a:srgbClr val="B85042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949440" y="301752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</a:t>
            </a:r>
            <a:endParaRPr lang="en-US" sz="2200" dirty="0"/>
          </a:p>
        </p:txBody>
      </p:sp>
      <p:sp>
        <p:nvSpPr>
          <p:cNvPr id="29" name="Text 27"/>
          <p:cNvSpPr/>
          <p:nvPr/>
        </p:nvSpPr>
        <p:spPr>
          <a:xfrm>
            <a:off x="6675120" y="374904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2F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الربحية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8183880" y="3017520"/>
            <a:ext cx="640080" cy="640080"/>
          </a:xfrm>
          <a:prstGeom prst="ellipse">
            <a:avLst/>
          </a:prstGeom>
          <a:solidFill>
            <a:srgbClr val="8B5A3C"/>
          </a:solidFill>
          <a:ln w="12700">
            <a:solidFill>
              <a:srgbClr val="8B5A3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183880" y="301752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2200" dirty="0"/>
          </a:p>
        </p:txBody>
      </p:sp>
      <p:sp>
        <p:nvSpPr>
          <p:cNvPr id="32" name="Text 30"/>
          <p:cNvSpPr/>
          <p:nvPr/>
        </p:nvSpPr>
        <p:spPr>
          <a:xfrm>
            <a:off x="7909560" y="374904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2F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المبيعات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9418320" y="3017520"/>
            <a:ext cx="640080" cy="640080"/>
          </a:xfrm>
          <a:prstGeom prst="ellipse">
            <a:avLst/>
          </a:prstGeom>
          <a:solidFill>
            <a:srgbClr val="C9A961"/>
          </a:solidFill>
          <a:ln w="12700">
            <a:solidFill>
              <a:srgbClr val="C9A961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418320" y="301752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2200" dirty="0"/>
          </a:p>
        </p:txBody>
      </p:sp>
      <p:sp>
        <p:nvSpPr>
          <p:cNvPr id="35" name="Text 33"/>
          <p:cNvSpPr/>
          <p:nvPr/>
        </p:nvSpPr>
        <p:spPr>
          <a:xfrm>
            <a:off x="9144000" y="374904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2F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مرتجع عقابي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10652760" y="3017520"/>
            <a:ext cx="640080" cy="640080"/>
          </a:xfrm>
          <a:prstGeom prst="ellipse">
            <a:avLst/>
          </a:prstGeom>
          <a:solidFill>
            <a:srgbClr val="A7BEAE"/>
          </a:solidFill>
          <a:ln w="12700">
            <a:solidFill>
              <a:srgbClr val="A7BEAE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0652760" y="301752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2200" dirty="0"/>
          </a:p>
        </p:txBody>
      </p:sp>
      <p:sp>
        <p:nvSpPr>
          <p:cNvPr id="38" name="Text 36"/>
          <p:cNvSpPr/>
          <p:nvPr/>
        </p:nvSpPr>
        <p:spPr>
          <a:xfrm>
            <a:off x="10378440" y="374904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2F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التكلفة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6583680" y="438912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rgbClr val="2F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التصنيف التلقائي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6675120" y="4846320"/>
            <a:ext cx="1143000" cy="1097280"/>
          </a:xfrm>
          <a:prstGeom prst="roundRect">
            <a:avLst>
              <a:gd name="adj" fmla="val 6667"/>
            </a:avLst>
          </a:prstGeom>
          <a:solidFill>
            <a:srgbClr val="B85042"/>
          </a:solidFill>
          <a:ln w="12700">
            <a:solidFill>
              <a:srgbClr val="B85042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675120" y="4937760"/>
            <a:ext cx="1143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بطل</a:t>
            </a:r>
            <a:endParaRPr lang="en-US" sz="1300" dirty="0"/>
          </a:p>
        </p:txBody>
      </p:sp>
      <p:sp>
        <p:nvSpPr>
          <p:cNvPr id="42" name="Text 40"/>
          <p:cNvSpPr/>
          <p:nvPr/>
        </p:nvSpPr>
        <p:spPr>
          <a:xfrm>
            <a:off x="6675120" y="5394960"/>
            <a:ext cx="1143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أعلى من 80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7909560" y="4846320"/>
            <a:ext cx="1143000" cy="1097280"/>
          </a:xfrm>
          <a:prstGeom prst="roundRect">
            <a:avLst>
              <a:gd name="adj" fmla="val 6667"/>
            </a:avLst>
          </a:prstGeom>
          <a:solidFill>
            <a:srgbClr val="C9A961"/>
          </a:solidFill>
          <a:ln w="12700">
            <a:solidFill>
              <a:srgbClr val="C9A961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909560" y="4937760"/>
            <a:ext cx="1143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فرصة كامنة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7909560" y="5394960"/>
            <a:ext cx="1143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50-80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9144000" y="4846320"/>
            <a:ext cx="1143000" cy="1097280"/>
          </a:xfrm>
          <a:prstGeom prst="roundRect">
            <a:avLst>
              <a:gd name="adj" fmla="val 6667"/>
            </a:avLst>
          </a:prstGeom>
          <a:solidFill>
            <a:srgbClr val="8B5A3C"/>
          </a:solidFill>
          <a:ln w="12700">
            <a:solidFill>
              <a:srgbClr val="8B5A3C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9144000" y="4937760"/>
            <a:ext cx="1143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مخادع</a:t>
            </a:r>
            <a:endParaRPr lang="en-US" sz="1300" dirty="0"/>
          </a:p>
        </p:txBody>
      </p:sp>
      <p:sp>
        <p:nvSpPr>
          <p:cNvPr id="48" name="Text 46"/>
          <p:cNvSpPr/>
          <p:nvPr/>
        </p:nvSpPr>
        <p:spPr>
          <a:xfrm>
            <a:off x="9144000" y="5394960"/>
            <a:ext cx="1143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30-50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10378440" y="4846320"/>
            <a:ext cx="1143000" cy="1097280"/>
          </a:xfrm>
          <a:prstGeom prst="roundRect">
            <a:avLst>
              <a:gd name="adj" fmla="val 6667"/>
            </a:avLst>
          </a:prstGeom>
          <a:solidFill>
            <a:srgbClr val="8A7E76"/>
          </a:solidFill>
          <a:ln w="12700">
            <a:solidFill>
              <a:srgbClr val="8A7E76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10378440" y="4937760"/>
            <a:ext cx="1143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راكد</a:t>
            </a:r>
            <a:endParaRPr lang="en-US" sz="1300" dirty="0"/>
          </a:p>
        </p:txBody>
      </p:sp>
      <p:sp>
        <p:nvSpPr>
          <p:cNvPr id="51" name="Text 49"/>
          <p:cNvSpPr/>
          <p:nvPr/>
        </p:nvSpPr>
        <p:spPr>
          <a:xfrm>
            <a:off x="10378440" y="5394960"/>
            <a:ext cx="1143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أقل من 30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A14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باقات التسعير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143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1500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اختر الباقة المناسبة لحجم متجرك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434340" y="1691640"/>
            <a:ext cx="3611880" cy="4572000"/>
          </a:xfrm>
          <a:prstGeom prst="roundRect">
            <a:avLst>
              <a:gd name="adj" fmla="val 2025"/>
            </a:avLst>
          </a:prstGeom>
          <a:solidFill>
            <a:srgbClr val="2A2018"/>
          </a:solidFill>
          <a:ln w="12700">
            <a:solidFill>
              <a:srgbClr val="2A201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17220" y="1874520"/>
            <a:ext cx="3246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البداية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17220" y="2286000"/>
            <a:ext cx="32461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Starter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17220" y="2514600"/>
            <a:ext cx="32461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لمحلات العطور الصغيرة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17220" y="2834640"/>
            <a:ext cx="3246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617220" y="3520440"/>
            <a:ext cx="32461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د.ك / شهرياً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891540" y="3840480"/>
            <a:ext cx="2697480" cy="0"/>
          </a:xfrm>
          <a:prstGeom prst="line">
            <a:avLst/>
          </a:prstGeom>
          <a:noFill/>
          <a:ln w="12700">
            <a:solidFill>
              <a:srgbClr val="A7BEAE">
                <a:alpha val="5000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08660" y="3977640"/>
            <a:ext cx="228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937260" y="3977640"/>
            <a:ext cx="2926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نقاط بيع قياسي + سريع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708660" y="4224528"/>
            <a:ext cx="228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37260" y="4224528"/>
            <a:ext cx="2926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حتى 100 منتج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708660" y="4471416"/>
            <a:ext cx="228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937260" y="4471416"/>
            <a:ext cx="2926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مخزن واحد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708660" y="4718304"/>
            <a:ext cx="228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937260" y="4718304"/>
            <a:ext cx="2926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مستخدم واحد (كاشير)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708660" y="4965192"/>
            <a:ext cx="228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937260" y="4965192"/>
            <a:ext cx="2926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فواتير + طباعة حرارية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708660" y="5212080"/>
            <a:ext cx="228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937260" y="5212080"/>
            <a:ext cx="2926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ورديات + إغلاق يومي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708660" y="5458968"/>
            <a:ext cx="228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937260" y="5458968"/>
            <a:ext cx="2926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دعم بريدي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4274820" y="1691640"/>
            <a:ext cx="3611880" cy="4572000"/>
          </a:xfrm>
          <a:prstGeom prst="roundRect">
            <a:avLst>
              <a:gd name="adj" fmla="val 2025"/>
            </a:avLst>
          </a:prstGeom>
          <a:solidFill>
            <a:srgbClr val="B85042"/>
          </a:solidFill>
          <a:ln w="12700">
            <a:solidFill>
              <a:srgbClr val="B85042"/>
            </a:solidFill>
            <a:prstDash val="solid"/>
          </a:ln>
          <a:effectLst>
            <a:outerShdw sx="100000" sy="100000" kx="0" ky="0" algn="bl" rotWithShape="0" blurRad="101600" dist="25400" dir="2700000">
              <a:srgbClr val="000000">
                <a:alpha val="12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6332220" y="1828800"/>
            <a:ext cx="1371600" cy="320040"/>
          </a:xfrm>
          <a:prstGeom prst="roundRect">
            <a:avLst>
              <a:gd name="adj" fmla="val 11429"/>
            </a:avLst>
          </a:prstGeom>
          <a:solidFill>
            <a:srgbClr val="C9A961"/>
          </a:solidFill>
          <a:ln w="12700">
            <a:solidFill>
              <a:srgbClr val="C9A96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332220" y="182880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1A14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الأكثر شعبية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4457700" y="1874520"/>
            <a:ext cx="3246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النمو</a:t>
            </a:r>
            <a:endParaRPr lang="en-US" sz="2000" dirty="0"/>
          </a:p>
        </p:txBody>
      </p:sp>
      <p:sp>
        <p:nvSpPr>
          <p:cNvPr id="29" name="Text 27"/>
          <p:cNvSpPr/>
          <p:nvPr/>
        </p:nvSpPr>
        <p:spPr>
          <a:xfrm>
            <a:off x="4457700" y="2286000"/>
            <a:ext cx="32461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Growth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4457700" y="2514600"/>
            <a:ext cx="32461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لمحلات العطور المتوسطة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4457700" y="2834640"/>
            <a:ext cx="3246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</a:t>
            </a:r>
            <a:endParaRPr lang="en-US" sz="4000" dirty="0"/>
          </a:p>
        </p:txBody>
      </p:sp>
      <p:sp>
        <p:nvSpPr>
          <p:cNvPr id="32" name="Text 30"/>
          <p:cNvSpPr/>
          <p:nvPr/>
        </p:nvSpPr>
        <p:spPr>
          <a:xfrm>
            <a:off x="4457700" y="3520440"/>
            <a:ext cx="32461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د.ك / شهرياً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4732020" y="3840480"/>
            <a:ext cx="2697480" cy="0"/>
          </a:xfrm>
          <a:prstGeom prst="line">
            <a:avLst/>
          </a:prstGeom>
          <a:noFill/>
          <a:ln w="12700">
            <a:solidFill>
              <a:srgbClr val="A7BEAE">
                <a:alpha val="50000"/>
              </a:srgbClr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549140" y="3977640"/>
            <a:ext cx="228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4777740" y="3977640"/>
            <a:ext cx="2926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كل ميزات البداية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4549140" y="4224528"/>
            <a:ext cx="228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4777740" y="4224528"/>
            <a:ext cx="2926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منتجات غير محدودة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4549140" y="4471416"/>
            <a:ext cx="228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4777740" y="4471416"/>
            <a:ext cx="2926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حتى 3 مخازن</a:t>
            </a:r>
            <a:endParaRPr lang="en-US" sz="950" dirty="0"/>
          </a:p>
        </p:txBody>
      </p:sp>
      <p:sp>
        <p:nvSpPr>
          <p:cNvPr id="40" name="Text 38"/>
          <p:cNvSpPr/>
          <p:nvPr/>
        </p:nvSpPr>
        <p:spPr>
          <a:xfrm>
            <a:off x="4549140" y="4718304"/>
            <a:ext cx="228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4777740" y="4718304"/>
            <a:ext cx="2926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حتى 5 مستخدمين</a:t>
            </a:r>
            <a:endParaRPr lang="en-US" sz="950" dirty="0"/>
          </a:p>
        </p:txBody>
      </p:sp>
      <p:sp>
        <p:nvSpPr>
          <p:cNvPr id="42" name="Text 40"/>
          <p:cNvSpPr/>
          <p:nvPr/>
        </p:nvSpPr>
        <p:spPr>
          <a:xfrm>
            <a:off x="4549140" y="4965192"/>
            <a:ext cx="228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4777740" y="4965192"/>
            <a:ext cx="2926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محاسبة قيد مزدوج</a:t>
            </a:r>
            <a:endParaRPr lang="en-US" sz="950" dirty="0"/>
          </a:p>
        </p:txBody>
      </p:sp>
      <p:sp>
        <p:nvSpPr>
          <p:cNvPr id="44" name="Text 42"/>
          <p:cNvSpPr/>
          <p:nvPr/>
        </p:nvSpPr>
        <p:spPr>
          <a:xfrm>
            <a:off x="4549140" y="5212080"/>
            <a:ext cx="228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4777740" y="5212080"/>
            <a:ext cx="2926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ملاحق جمركية</a:t>
            </a:r>
            <a:endParaRPr lang="en-US" sz="950" dirty="0"/>
          </a:p>
        </p:txBody>
      </p:sp>
      <p:sp>
        <p:nvSpPr>
          <p:cNvPr id="46" name="Text 44"/>
          <p:cNvSpPr/>
          <p:nvPr/>
        </p:nvSpPr>
        <p:spPr>
          <a:xfrm>
            <a:off x="4549140" y="5458968"/>
            <a:ext cx="228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4777740" y="5458968"/>
            <a:ext cx="2926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تركيبات + باقات</a:t>
            </a:r>
            <a:endParaRPr lang="en-US" sz="950" dirty="0"/>
          </a:p>
        </p:txBody>
      </p:sp>
      <p:sp>
        <p:nvSpPr>
          <p:cNvPr id="48" name="Text 46"/>
          <p:cNvSpPr/>
          <p:nvPr/>
        </p:nvSpPr>
        <p:spPr>
          <a:xfrm>
            <a:off x="4549140" y="5705856"/>
            <a:ext cx="228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4777740" y="5705856"/>
            <a:ext cx="2926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تقارير + Excel</a:t>
            </a:r>
            <a:endParaRPr lang="en-US" sz="950" dirty="0"/>
          </a:p>
        </p:txBody>
      </p:sp>
      <p:sp>
        <p:nvSpPr>
          <p:cNvPr id="50" name="Text 48"/>
          <p:cNvSpPr/>
          <p:nvPr/>
        </p:nvSpPr>
        <p:spPr>
          <a:xfrm>
            <a:off x="4549140" y="5952744"/>
            <a:ext cx="228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51" name="Text 49"/>
          <p:cNvSpPr/>
          <p:nvPr/>
        </p:nvSpPr>
        <p:spPr>
          <a:xfrm>
            <a:off x="4777740" y="5952744"/>
            <a:ext cx="2926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دعم بالواتساب</a:t>
            </a:r>
            <a:endParaRPr lang="en-US" sz="950" dirty="0"/>
          </a:p>
        </p:txBody>
      </p:sp>
      <p:sp>
        <p:nvSpPr>
          <p:cNvPr id="52" name="Shape 50"/>
          <p:cNvSpPr/>
          <p:nvPr/>
        </p:nvSpPr>
        <p:spPr>
          <a:xfrm>
            <a:off x="8115300" y="1691640"/>
            <a:ext cx="3611880" cy="4572000"/>
          </a:xfrm>
          <a:prstGeom prst="roundRect">
            <a:avLst>
              <a:gd name="adj" fmla="val 2025"/>
            </a:avLst>
          </a:prstGeom>
          <a:solidFill>
            <a:srgbClr val="2A2018"/>
          </a:solidFill>
          <a:ln w="12700">
            <a:solidFill>
              <a:srgbClr val="2A2018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8298180" y="1874520"/>
            <a:ext cx="3246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المؤسسة</a:t>
            </a:r>
            <a:endParaRPr lang="en-US" sz="2000" dirty="0"/>
          </a:p>
        </p:txBody>
      </p:sp>
      <p:sp>
        <p:nvSpPr>
          <p:cNvPr id="54" name="Text 52"/>
          <p:cNvSpPr/>
          <p:nvPr/>
        </p:nvSpPr>
        <p:spPr>
          <a:xfrm>
            <a:off x="8298180" y="2286000"/>
            <a:ext cx="32461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</a:t>
            </a:r>
            <a:endParaRPr lang="en-US" sz="1100" dirty="0"/>
          </a:p>
        </p:txBody>
      </p:sp>
      <p:sp>
        <p:nvSpPr>
          <p:cNvPr id="55" name="Text 53"/>
          <p:cNvSpPr/>
          <p:nvPr/>
        </p:nvSpPr>
        <p:spPr>
          <a:xfrm>
            <a:off x="8298180" y="2514600"/>
            <a:ext cx="32461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للمحلات الكبيرة والفروع</a:t>
            </a:r>
            <a:endParaRPr lang="en-US" sz="1000" dirty="0"/>
          </a:p>
        </p:txBody>
      </p:sp>
      <p:sp>
        <p:nvSpPr>
          <p:cNvPr id="56" name="Text 54"/>
          <p:cNvSpPr/>
          <p:nvPr/>
        </p:nvSpPr>
        <p:spPr>
          <a:xfrm>
            <a:off x="8298180" y="2834640"/>
            <a:ext cx="3246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</a:t>
            </a:r>
            <a:endParaRPr lang="en-US" sz="4000" dirty="0"/>
          </a:p>
        </p:txBody>
      </p:sp>
      <p:sp>
        <p:nvSpPr>
          <p:cNvPr id="57" name="Text 55"/>
          <p:cNvSpPr/>
          <p:nvPr/>
        </p:nvSpPr>
        <p:spPr>
          <a:xfrm>
            <a:off x="8298180" y="3520440"/>
            <a:ext cx="32461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د.ك / شهرياً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8572500" y="3840480"/>
            <a:ext cx="2697480" cy="0"/>
          </a:xfrm>
          <a:prstGeom prst="line">
            <a:avLst/>
          </a:prstGeom>
          <a:noFill/>
          <a:ln w="12700">
            <a:solidFill>
              <a:srgbClr val="A7BEAE">
                <a:alpha val="50000"/>
              </a:srgbClr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8389620" y="3977640"/>
            <a:ext cx="228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60" name="Text 58"/>
          <p:cNvSpPr/>
          <p:nvPr/>
        </p:nvSpPr>
        <p:spPr>
          <a:xfrm>
            <a:off x="8618220" y="3977640"/>
            <a:ext cx="2926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كل ميزات النمو</a:t>
            </a:r>
            <a:endParaRPr lang="en-US" sz="950" dirty="0"/>
          </a:p>
        </p:txBody>
      </p:sp>
      <p:sp>
        <p:nvSpPr>
          <p:cNvPr id="61" name="Text 59"/>
          <p:cNvSpPr/>
          <p:nvPr/>
        </p:nvSpPr>
        <p:spPr>
          <a:xfrm>
            <a:off x="8389620" y="4224528"/>
            <a:ext cx="228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62" name="Text 60"/>
          <p:cNvSpPr/>
          <p:nvPr/>
        </p:nvSpPr>
        <p:spPr>
          <a:xfrm>
            <a:off x="8618220" y="4224528"/>
            <a:ext cx="2926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مخازن غير محدودة</a:t>
            </a:r>
            <a:endParaRPr lang="en-US" sz="950" dirty="0"/>
          </a:p>
        </p:txBody>
      </p:sp>
      <p:sp>
        <p:nvSpPr>
          <p:cNvPr id="63" name="Text 61"/>
          <p:cNvSpPr/>
          <p:nvPr/>
        </p:nvSpPr>
        <p:spPr>
          <a:xfrm>
            <a:off x="8389620" y="4471416"/>
            <a:ext cx="228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64" name="Text 62"/>
          <p:cNvSpPr/>
          <p:nvPr/>
        </p:nvSpPr>
        <p:spPr>
          <a:xfrm>
            <a:off x="8618220" y="4471416"/>
            <a:ext cx="2926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مستخدمون غير محدودين</a:t>
            </a:r>
            <a:endParaRPr lang="en-US" sz="950" dirty="0"/>
          </a:p>
        </p:txBody>
      </p:sp>
      <p:sp>
        <p:nvSpPr>
          <p:cNvPr id="65" name="Text 63"/>
          <p:cNvSpPr/>
          <p:nvPr/>
        </p:nvSpPr>
        <p:spPr>
          <a:xfrm>
            <a:off x="8389620" y="4718304"/>
            <a:ext cx="228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66" name="Text 64"/>
          <p:cNvSpPr/>
          <p:nvPr/>
        </p:nvSpPr>
        <p:spPr>
          <a:xfrm>
            <a:off x="8618220" y="4718304"/>
            <a:ext cx="2926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تكامل Shopify</a:t>
            </a:r>
            <a:endParaRPr lang="en-US" sz="950" dirty="0"/>
          </a:p>
        </p:txBody>
      </p:sp>
      <p:sp>
        <p:nvSpPr>
          <p:cNvPr id="67" name="Text 65"/>
          <p:cNvSpPr/>
          <p:nvPr/>
        </p:nvSpPr>
        <p:spPr>
          <a:xfrm>
            <a:off x="8389620" y="4965192"/>
            <a:ext cx="228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68" name="Text 66"/>
          <p:cNvSpPr/>
          <p:nvPr/>
        </p:nvSpPr>
        <p:spPr>
          <a:xfrm>
            <a:off x="8618220" y="4965192"/>
            <a:ext cx="2926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مؤشر كفاءة المنتج</a:t>
            </a:r>
            <a:endParaRPr lang="en-US" sz="950" dirty="0"/>
          </a:p>
        </p:txBody>
      </p:sp>
      <p:sp>
        <p:nvSpPr>
          <p:cNvPr id="69" name="Text 67"/>
          <p:cNvSpPr/>
          <p:nvPr/>
        </p:nvSpPr>
        <p:spPr>
          <a:xfrm>
            <a:off x="8389620" y="5212080"/>
            <a:ext cx="228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70" name="Text 68"/>
          <p:cNvSpPr/>
          <p:nvPr/>
        </p:nvSpPr>
        <p:spPr>
          <a:xfrm>
            <a:off x="8618220" y="5212080"/>
            <a:ext cx="2926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سجل تدقيق كامل</a:t>
            </a:r>
            <a:endParaRPr lang="en-US" sz="950" dirty="0"/>
          </a:p>
        </p:txBody>
      </p:sp>
      <p:sp>
        <p:nvSpPr>
          <p:cNvPr id="71" name="Text 69"/>
          <p:cNvSpPr/>
          <p:nvPr/>
        </p:nvSpPr>
        <p:spPr>
          <a:xfrm>
            <a:off x="8389620" y="5458968"/>
            <a:ext cx="228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72" name="Text 70"/>
          <p:cNvSpPr/>
          <p:nvPr/>
        </p:nvSpPr>
        <p:spPr>
          <a:xfrm>
            <a:off x="8618220" y="5458968"/>
            <a:ext cx="2926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أدوات صيانة النظام</a:t>
            </a:r>
            <a:endParaRPr lang="en-US" sz="950" dirty="0"/>
          </a:p>
        </p:txBody>
      </p:sp>
      <p:sp>
        <p:nvSpPr>
          <p:cNvPr id="73" name="Text 71"/>
          <p:cNvSpPr/>
          <p:nvPr/>
        </p:nvSpPr>
        <p:spPr>
          <a:xfrm>
            <a:off x="8389620" y="5705856"/>
            <a:ext cx="228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74" name="Text 72"/>
          <p:cNvSpPr/>
          <p:nvPr/>
        </p:nvSpPr>
        <p:spPr>
          <a:xfrm>
            <a:off x="8618220" y="5705856"/>
            <a:ext cx="2926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أولوية الدعم + هاتفي</a:t>
            </a:r>
            <a:endParaRPr lang="en-US" sz="950" dirty="0"/>
          </a:p>
        </p:txBody>
      </p:sp>
      <p:sp>
        <p:nvSpPr>
          <p:cNvPr id="75" name="Text 73"/>
          <p:cNvSpPr/>
          <p:nvPr/>
        </p:nvSpPr>
        <p:spPr>
          <a:xfrm>
            <a:off x="8389620" y="5952744"/>
            <a:ext cx="228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76" name="Text 74"/>
          <p:cNvSpPr/>
          <p:nvPr/>
        </p:nvSpPr>
        <p:spPr>
          <a:xfrm>
            <a:off x="8618220" y="5952744"/>
            <a:ext cx="2926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تدريب مخصص (2 ساعة)</a:t>
            </a:r>
            <a:endParaRPr lang="en-US" sz="950" dirty="0"/>
          </a:p>
        </p:txBody>
      </p:sp>
      <p:sp>
        <p:nvSpPr>
          <p:cNvPr id="77" name="Text 75"/>
          <p:cNvSpPr/>
          <p:nvPr/>
        </p:nvSpPr>
        <p:spPr>
          <a:xfrm>
            <a:off x="548640" y="6446520"/>
            <a:ext cx="11064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جميع البقات تشمل: استضافة سحابية + نسخ احتياطي يومي + تحديثات مجانية + إلغاء في أي وقت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3200" b="1" dirty="0">
                <a:solidFill>
                  <a:srgbClr val="2F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إعداد لمرة واحدة + خدمات إضافية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5303520" cy="256032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270000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731520" y="164592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8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🔧 الإعداد لمرة واحدة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22960" y="2194560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1200" dirty="0">
                <a:solidFill>
                  <a:srgbClr val="2F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إنشاء الحساب + ربط Supabase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297680" y="219456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مجاني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822960" y="2487168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1200" dirty="0">
                <a:solidFill>
                  <a:srgbClr val="2F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استيراد المنتجات (Excel)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297680" y="2487168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مجاني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22960" y="2779776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1200" dirty="0">
                <a:solidFill>
                  <a:srgbClr val="2F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تدريب أساسي (ساعة)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297680" y="2779776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مجاني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22960" y="3072384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1200" dirty="0">
                <a:solidFill>
                  <a:srgbClr val="2F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تخصيص شعار + فاتورة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297680" y="3072384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د.ك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822960" y="3364992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1200" dirty="0">
                <a:solidFill>
                  <a:srgbClr val="2F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ترحيل بيانات من نظام سابق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297680" y="3364992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 د.ك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22960" y="3657600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1200" dirty="0">
                <a:solidFill>
                  <a:srgbClr val="2F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تدريب مخصص (2 ساعة)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297680" y="365760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 د.ك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309360" y="1463040"/>
            <a:ext cx="5303520" cy="256032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2700000">
              <a:srgbClr val="000000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492240" y="164592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8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🖨️ أجهزة (اختياري)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6583680" y="2194560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1200" dirty="0">
                <a:solidFill>
                  <a:srgbClr val="2F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طابعة إيصالات حرارية 80mm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10058400" y="219456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 د.ك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583680" y="2487168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1200" dirty="0">
                <a:solidFill>
                  <a:srgbClr val="2F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قارئ باركود USB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10058400" y="2487168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د.ك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583680" y="2779776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1200" dirty="0">
                <a:solidFill>
                  <a:srgbClr val="2F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درج نقود آلي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10058400" y="2779776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 د.ك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6583680" y="3072384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1200" dirty="0">
                <a:solidFill>
                  <a:srgbClr val="2F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جهاز لوحي Android للكاشير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10058400" y="3072384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120 د.ك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6583680" y="3364992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1200" dirty="0">
                <a:solidFill>
                  <a:srgbClr val="2F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شاشة لمس عميلة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10058400" y="3364992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180 د.ك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6583680" y="3657600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1200" dirty="0">
                <a:solidFill>
                  <a:srgbClr val="2F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حزمة كاملة (الكل)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10058400" y="365760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350 د.ك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548640" y="4297680"/>
            <a:ext cx="11064240" cy="2103120"/>
          </a:xfrm>
          <a:prstGeom prst="roundRect">
            <a:avLst>
              <a:gd name="adj" fmla="val 3478"/>
            </a:avLst>
          </a:prstGeom>
          <a:solidFill>
            <a:srgbClr val="B85042"/>
          </a:solidFill>
          <a:ln w="12700">
            <a:solidFill>
              <a:srgbClr val="B85042"/>
            </a:solidFill>
            <a:prstDash val="solid"/>
          </a:ln>
          <a:effectLst>
            <a:outerShdw sx="100000" sy="100000" kx="0" ky="0" algn="bl" rotWithShape="0" blurRad="101600" dist="25400" dir="27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731520" y="4480560"/>
            <a:ext cx="10698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🎁 خصم الدفع السنوي</a:t>
            </a:r>
            <a:endParaRPr lang="en-US" sz="2200" dirty="0"/>
          </a:p>
        </p:txBody>
      </p:sp>
      <p:sp>
        <p:nvSpPr>
          <p:cNvPr id="33" name="Text 31"/>
          <p:cNvSpPr/>
          <p:nvPr/>
        </p:nvSpPr>
        <p:spPr>
          <a:xfrm>
            <a:off x="731520" y="502920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600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ادفع سنوياً بدل شهرياً ووفّر شهرين مجاناً (≈17% خصم)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822960" y="557784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البداية: 15 د.ك/شهر → 150 د.ك/سنة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822960" y="594360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وفّر 30 د.ك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4480560" y="557784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النمو: 35 د.ك/شهر → 350 د.ك/سنة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4480560" y="594360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وفّر 70 د.ك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8138160" y="557784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المؤسسة: 75 د.ك/شهر → 750 د.ك/سنة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8138160" y="594360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وفّر 150 د.ك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A14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لماذا KWPOS؟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54480"/>
            <a:ext cx="5440680" cy="1143000"/>
          </a:xfrm>
          <a:prstGeom prst="roundRect">
            <a:avLst>
              <a:gd name="adj" fmla="val 6400"/>
            </a:avLst>
          </a:prstGeom>
          <a:solidFill>
            <a:srgbClr val="2A2018"/>
          </a:solidFill>
          <a:ln w="12700">
            <a:solidFill>
              <a:srgbClr val="2A201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182880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</a:rPr>
              <a:t>🇰🇼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463040" y="1737360"/>
            <a:ext cx="4343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1600" b="1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مصمم للكويت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463040" y="2148840"/>
            <a:ext cx="43434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l" indent="0" marL="0">
              <a:buNone/>
            </a:pPr>
            <a:r>
              <a:rPr lang="en-US" sz="1100" dirty="0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دينار كويتي + ضريبة كيات + متعدد الفروع + عربي RTL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6172200" y="1554480"/>
            <a:ext cx="5440680" cy="1143000"/>
          </a:xfrm>
          <a:prstGeom prst="roundRect">
            <a:avLst>
              <a:gd name="adj" fmla="val 6400"/>
            </a:avLst>
          </a:prstGeom>
          <a:solidFill>
            <a:srgbClr val="2A2018"/>
          </a:solidFill>
          <a:ln w="12700">
            <a:solidFill>
              <a:srgbClr val="2A201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355080" y="182880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</a:rPr>
              <a:t>⚡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7086600" y="1737360"/>
            <a:ext cx="4343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1600" b="1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سريع جداً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086600" y="2148840"/>
            <a:ext cx="43434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l" indent="0" marL="0">
              <a:buNone/>
            </a:pPr>
            <a:r>
              <a:rPr lang="en-US" sz="1100" dirty="0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Batch SQL + React.memo + 100ms استجابة POS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48640" y="2880360"/>
            <a:ext cx="5440680" cy="1143000"/>
          </a:xfrm>
          <a:prstGeom prst="roundRect">
            <a:avLst>
              <a:gd name="adj" fmla="val 6400"/>
            </a:avLst>
          </a:prstGeom>
          <a:solidFill>
            <a:srgbClr val="2A2018"/>
          </a:solidFill>
          <a:ln w="12700">
            <a:solidFill>
              <a:srgbClr val="2A201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0" y="315468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</a:rPr>
              <a:t>🔒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1463040" y="3063240"/>
            <a:ext cx="4343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1600" b="1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آمن وقابل للتدقيق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463040" y="3474720"/>
            <a:ext cx="43434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l" indent="0" marL="0">
              <a:buNone/>
            </a:pPr>
            <a:r>
              <a:rPr lang="en-US" sz="1100" dirty="0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 limiting + audit log + صلاحيات دقيقة + timingSafeEqual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172200" y="2880360"/>
            <a:ext cx="5440680" cy="1143000"/>
          </a:xfrm>
          <a:prstGeom prst="roundRect">
            <a:avLst>
              <a:gd name="adj" fmla="val 6400"/>
            </a:avLst>
          </a:prstGeom>
          <a:solidFill>
            <a:srgbClr val="2A2018"/>
          </a:solidFill>
          <a:ln w="12700">
            <a:solidFill>
              <a:srgbClr val="2A201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355080" y="315468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</a:rPr>
              <a:t>📊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7086600" y="3063240"/>
            <a:ext cx="4343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1600" b="1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ذكي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7086600" y="3474720"/>
            <a:ext cx="43434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l" indent="0" marL="0">
              <a:buNone/>
            </a:pPr>
            <a:r>
              <a:rPr lang="en-US" sz="1100" dirty="0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تقارير + تحليلات + مؤشر كفاءة المنتج (100 نقطة)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548640" y="4206240"/>
            <a:ext cx="5440680" cy="1143000"/>
          </a:xfrm>
          <a:prstGeom prst="roundRect">
            <a:avLst>
              <a:gd name="adj" fmla="val 6400"/>
            </a:avLst>
          </a:prstGeom>
          <a:solidFill>
            <a:srgbClr val="2A2018"/>
          </a:solidFill>
          <a:ln w="12700">
            <a:solidFill>
              <a:srgbClr val="2A201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31520" y="448056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</a:rPr>
              <a:t>💰</a:t>
            </a:r>
            <a:endParaRPr lang="en-US" sz="3000" dirty="0"/>
          </a:p>
        </p:txBody>
      </p:sp>
      <p:sp>
        <p:nvSpPr>
          <p:cNvPr id="21" name="Text 19"/>
          <p:cNvSpPr/>
          <p:nvPr/>
        </p:nvSpPr>
        <p:spPr>
          <a:xfrm>
            <a:off x="1463040" y="4389120"/>
            <a:ext cx="4343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1600" b="1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اقتصادي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1463040" y="4800600"/>
            <a:ext cx="43434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l" indent="0" marL="0">
              <a:buNone/>
            </a:pPr>
            <a:r>
              <a:rPr lang="en-US" sz="1100" dirty="0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Serverless = لا خوادم لإدارتها، تبدأ من 15 د.ك شهرياً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172200" y="4206240"/>
            <a:ext cx="5440680" cy="1143000"/>
          </a:xfrm>
          <a:prstGeom prst="roundRect">
            <a:avLst>
              <a:gd name="adj" fmla="val 6400"/>
            </a:avLst>
          </a:prstGeom>
          <a:solidFill>
            <a:srgbClr val="2A2018"/>
          </a:solidFill>
          <a:ln w="12700">
            <a:solidFill>
              <a:srgbClr val="2A201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355080" y="448056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</a:rPr>
              <a:t>🧪</a:t>
            </a:r>
            <a:endParaRPr lang="en-US" sz="3000" dirty="0"/>
          </a:p>
        </p:txBody>
      </p:sp>
      <p:sp>
        <p:nvSpPr>
          <p:cNvPr id="25" name="Text 23"/>
          <p:cNvSpPr/>
          <p:nvPr/>
        </p:nvSpPr>
        <p:spPr>
          <a:xfrm>
            <a:off x="7086600" y="4389120"/>
            <a:ext cx="4343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1600" b="1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موثوق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7086600" y="4800600"/>
            <a:ext cx="43434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l" indent="0" marL="0">
              <a:buNone/>
            </a:pPr>
            <a:r>
              <a:rPr lang="en-US" sz="1100" dirty="0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142 اختبار آلي + lint + TypeScript صارم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548640" y="5532120"/>
            <a:ext cx="5440680" cy="1143000"/>
          </a:xfrm>
          <a:prstGeom prst="roundRect">
            <a:avLst>
              <a:gd name="adj" fmla="val 6400"/>
            </a:avLst>
          </a:prstGeom>
          <a:solidFill>
            <a:srgbClr val="2A2018"/>
          </a:solidFill>
          <a:ln w="12700">
            <a:solidFill>
              <a:srgbClr val="2A201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31520" y="580644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</a:rPr>
              <a:t>🌍</a:t>
            </a:r>
            <a:endParaRPr lang="en-US" sz="3000" dirty="0"/>
          </a:p>
        </p:txBody>
      </p:sp>
      <p:sp>
        <p:nvSpPr>
          <p:cNvPr id="29" name="Text 27"/>
          <p:cNvSpPr/>
          <p:nvPr/>
        </p:nvSpPr>
        <p:spPr>
          <a:xfrm>
            <a:off x="1463040" y="5715000"/>
            <a:ext cx="4343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1600" b="1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يعمل في أي مكان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1463040" y="6126480"/>
            <a:ext cx="43434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l" indent="0" marL="0">
              <a:buNone/>
            </a:pPr>
            <a:r>
              <a:rPr lang="en-US" sz="1100" dirty="0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PWA + سحابي + الوصول من الجوال + الكمبيوتر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6172200" y="5532120"/>
            <a:ext cx="5440680" cy="1143000"/>
          </a:xfrm>
          <a:prstGeom prst="roundRect">
            <a:avLst>
              <a:gd name="adj" fmla="val 6400"/>
            </a:avLst>
          </a:prstGeom>
          <a:solidFill>
            <a:srgbClr val="2A2018"/>
          </a:solidFill>
          <a:ln w="12700">
            <a:solidFill>
              <a:srgbClr val="2A201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355080" y="580644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</a:rPr>
              <a:t>🔧</a:t>
            </a:r>
            <a:endParaRPr lang="en-US" sz="3000" dirty="0"/>
          </a:p>
        </p:txBody>
      </p:sp>
      <p:sp>
        <p:nvSpPr>
          <p:cNvPr id="33" name="Text 31"/>
          <p:cNvSpPr/>
          <p:nvPr/>
        </p:nvSpPr>
        <p:spPr>
          <a:xfrm>
            <a:off x="7086600" y="5715000"/>
            <a:ext cx="4343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1600" b="1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قابل للتخصيص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7086600" y="6126480"/>
            <a:ext cx="43434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l" indent="0" marL="0">
              <a:buNone/>
            </a:pPr>
            <a:r>
              <a:rPr lang="en-US" sz="1100" dirty="0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ملاحق جمركية + تركيبات + باقات + عروض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A14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73152"/>
          </a:xfrm>
          <a:prstGeom prst="rect">
            <a:avLst/>
          </a:prstGeom>
          <a:solidFill>
            <a:srgbClr val="C9A961"/>
          </a:solidFill>
          <a:ln w="12700">
            <a:solidFill>
              <a:srgbClr val="C9A9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16459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5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شكراً لكم</a:t>
            </a:r>
            <a:endParaRPr lang="en-US" sz="5600" dirty="0"/>
          </a:p>
        </p:txBody>
      </p:sp>
      <p:sp>
        <p:nvSpPr>
          <p:cNvPr id="4" name="Text 2"/>
          <p:cNvSpPr/>
          <p:nvPr/>
        </p:nvSpPr>
        <p:spPr>
          <a:xfrm>
            <a:off x="548640" y="283464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2000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نحن هنا لإدارة أعمالكم بكفاءة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337560" y="3840480"/>
            <a:ext cx="5486400" cy="2011680"/>
          </a:xfrm>
          <a:prstGeom prst="roundRect">
            <a:avLst>
              <a:gd name="adj" fmla="val 3636"/>
            </a:avLst>
          </a:prstGeom>
          <a:solidFill>
            <a:srgbClr val="2A2018"/>
          </a:solidFill>
          <a:ln w="12700">
            <a:solidFill>
              <a:srgbClr val="2A20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520440" y="4023360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للبدء أو الاستفسار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3840480" y="452628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📧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206240" y="452628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1200" dirty="0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البريد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577840" y="4526280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1200" b="1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info@kwpos.kw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3840480" y="4910328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🌐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206240" y="4910328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1200" dirty="0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الموقع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577840" y="4910328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1200" b="1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kwpos.vercel.app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840480" y="5294376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📱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4206240" y="5294376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1200" dirty="0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الواتساب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577840" y="5294376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1200" b="1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+965 0000 0000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3337560" y="6126480"/>
            <a:ext cx="5486400" cy="548640"/>
          </a:xfrm>
          <a:prstGeom prst="roundRect">
            <a:avLst>
              <a:gd name="adj" fmla="val 10000"/>
            </a:avLst>
          </a:prstGeom>
          <a:solidFill>
            <a:srgbClr val="B85042"/>
          </a:solidFill>
          <a:ln w="12700">
            <a:solidFill>
              <a:srgbClr val="B8504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337560" y="612648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جرّب مجاناً لمدة 14 يوماً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KWPOS — نظام نقاط البيع والمخازن</dc:title>
  <dc:subject>PptxGenJS Presentation</dc:subject>
  <dc:creator>KWPOS</dc:creator>
  <cp:lastModifiedBy>KWPOS</cp:lastModifiedBy>
  <cp:revision>1</cp:revision>
  <dcterms:created xsi:type="dcterms:W3CDTF">2026-08-26T04:34:56Z</dcterms:created>
  <dcterms:modified xsi:type="dcterms:W3CDTF">2026-08-26T04:34:56Z</dcterms:modified>
</cp:coreProperties>
</file>