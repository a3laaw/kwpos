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KWPOS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نقاط البيع والمخازن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حلٌّ متكامل لعطور وتجزئة الكويت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نقاط بيع • مخازن متعددة • محاسبة ذات قيد مزدوج • تقارير ذكية • 7 أدوار وظيفية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تنفيذي مع التسعير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 التي تواجه تجزئة العطور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150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543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4874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مبيعات مفقودة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54380" y="22402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بطء الكاشير وطوابير العملاء → فقدان 5-12% من الإيراد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054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342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9778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مخزون غير دقيق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3420" y="22402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بيع بضاعة غير موجودة، نفاد غير متوقع بين الفروع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69580" y="146304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524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🧾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846820" y="16459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فواتير ضائعة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2460" y="224028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فواتير مكررة ورقياً، نزاعات مع العملاء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1500" y="32461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43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48740" y="3429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تعدد الفروع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4380" y="40233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مزامنة فورية، ذمم غير متوازنة، قرارات خاطئة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0540" y="32461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34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097780" y="3429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نقص تقارير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03420" y="40233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عمى إداري، شراء غير مدروس، رأس مال مجمد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69580" y="32461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5246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846820" y="34290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التخليص الجمركي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52460" y="40233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تكاليف استيراد غير محتسبة → هامش ربح وهمي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KWPOS — الحل المتكامل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منصة واحدة مدمجة تغطي رحلة المنتج كاملة: من الشراء إلى التخليص إلى البيع إلى المحاسبة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نقاط البيع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وضع قياسي + سريع + باركود عالمي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الفواتير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مرتجع جزئي + إلغاء + طباعة حرارية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المخزون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مخازن متعددة + 9 أنواع حركة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1031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8972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المشتريات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أوامر شراء + ملاحق جمركية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التركيبات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مصنع صغير + إنتاج دفعات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657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2044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المحاسبة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044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قيد مزدوج + ميزان + قائمة دخل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657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35508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الورديات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5508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فتح/إغلاق + فروقات + اعتماد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06840" y="365760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18972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التقارير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89720" y="4617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تقارير + تصدير Excel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على النظام الفعلي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الدخول الحقيقية من النظام المنشور</a:t>
            </a:r>
            <a:endParaRPr lang="en-US" sz="1500" dirty="0"/>
          </a:p>
        </p:txBody>
      </p:sp>
      <p:pic>
        <p:nvPicPr>
          <p:cNvPr id="4" name="Image 0" descr="/home/z/my-project/ppt-output/real-screenshots/00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23160" y="1783080"/>
            <a:ext cx="73152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377440" y="1737360"/>
            <a:ext cx="7406640" cy="4206240"/>
          </a:xfrm>
          <a:prstGeom prst="rect">
            <a:avLst/>
          </a:prstGeom>
          <a:solidFill>
            <a:srgbClr val="C9A961">
              <a:alpha val="0"/>
            </a:srgbClr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51960" y="6035040"/>
            <a:ext cx="3657600" cy="411480"/>
          </a:xfrm>
          <a:prstGeom prst="roundRect">
            <a:avLst>
              <a:gd name="adj" fmla="val 1333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51960" y="6035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kwpos.vercel.app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الأدوار السبعة — صلاحيات دقيقة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الدور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الاسم العربي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الصلاحيات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الصفحات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12471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54480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55448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المالك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1554480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صلاحيات كاملة + لوحة المالك الحصرية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0" y="155448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صفحة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21408"/>
            <a:ext cx="11247120" cy="521208"/>
          </a:xfrm>
          <a:prstGeom prst="roundRect">
            <a:avLst>
              <a:gd name="adj" fmla="val 1403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21408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12140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 النظام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121408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كاملة + الإعدادات + المستخدمون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0" y="212140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صفحة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688336"/>
            <a:ext cx="112471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88336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268833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المدير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2688336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مبيعات + تقارير + ورديات + اعتمادات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84080" y="268833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صفحة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55264"/>
            <a:ext cx="11247120" cy="521208"/>
          </a:xfrm>
          <a:prstGeom prst="roundRect">
            <a:avLst>
              <a:gd name="adj" fmla="val 1403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55264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25526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محاسب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06240" y="3255264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محاسبة + تقارير + موردين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784080" y="3255264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صفحات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22192"/>
            <a:ext cx="112471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22192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3822192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أمين مخزن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06240" y="3822192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مخزون + مشتريات + تركيبات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784080" y="3822192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صفحات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389120"/>
            <a:ext cx="11247120" cy="521208"/>
          </a:xfrm>
          <a:prstGeom prst="roundRect">
            <a:avLst>
              <a:gd name="adj" fmla="val 14035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389120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0" y="438912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موظف مبيعات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06240" y="4389120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+ فواتير + عملاء + تبديل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84080" y="4389120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صفحة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956048"/>
            <a:ext cx="11247120" cy="521208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956048"/>
            <a:ext cx="16459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7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286000" y="49560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كاشير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206240" y="4956048"/>
            <a:ext cx="5486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فقط + الورديات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784080" y="4956048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8A7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صفحات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نقاط البيع — سرعة + دقة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150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11580" y="1737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الوضع القياسي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4380" y="2240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شريط جانبي كامل + بحث + بطاقات منتجات + سلة كاملة + دفع متعدد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054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577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60620" y="1737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الوضع السريع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03420" y="2240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كاملة + باركود كبير + بطاقات كبيرة + أزرار دفع ضخمة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69580" y="15544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67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709660" y="17373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قارئ باركود عالمي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52460" y="2240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HID + كشف المسح السريع 5-15ms + focus دائم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1500" y="3154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11580" y="3337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ربط عميل بالهاتف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4380" y="38404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بحث بالهاتف + نقاط ولاء + تاريخ المشتريات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0540" y="3154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77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⏸️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60620" y="3337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فواتير معلّقة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03420" y="38404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تعليق + استئناف + استبدال السلة + حذف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69580" y="3154680"/>
            <a:ext cx="3520440" cy="1371600"/>
          </a:xfrm>
          <a:prstGeom prst="roundRect">
            <a:avLst>
              <a:gd name="adj" fmla="val 5333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67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🖨️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09660" y="333756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طباعة حرارية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52460" y="38404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إيصال 80mm + فاتورة A4 + شعار الشركة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اختصارات: F2 = دفع  •  Ctrl+Enter = تأكيد  •  Esc = تفريغ  •  Ctrl+K = بحث شامل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نقاط البيع — معاينة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الوضع القياسي: شريط جانبي + بحث + بطاقات منتجات + سلة كاملة + دفع</a:t>
            </a:r>
            <a:endParaRPr lang="en-US" sz="1400" dirty="0"/>
          </a:p>
        </p:txBody>
      </p:sp>
      <p:pic>
        <p:nvPicPr>
          <p:cNvPr id="4" name="Image 0" descr="/home/z/my-project/ppt-output/real-screenshots/02-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37360"/>
            <a:ext cx="11155680" cy="4754880"/>
          </a:xfrm>
          <a:prstGeom prst="rect">
            <a:avLst/>
          </a:prstGeom>
          <a:solidFill>
            <a:srgbClr val="C9A961">
              <a:alpha val="0"/>
            </a:srgbClr>
          </a:solidFill>
          <a:ln w="254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المخزون والفروع المتعددة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مخازن متعددة بكميات مستقلة لكل منتج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3055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أنواع حركة مخزون (بيع/مرتجع/تبديل/شراء/...)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atomic يمنع race conditions في البيع المتزامن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تحويلات بين المخازن (شحنة صادرة + واردة)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جرد كامل + جرد أعمى (بدون رصيد دفتري)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4223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حذف ناعم + استعادة للمنتجات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4515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حركة المخزون لكل صنف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48072"/>
            <a:ext cx="228600" cy="2286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تتبع التكلفة الفعلية مع رسملة الجمارك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155448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737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أنواع حركة المخزون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بيع → خصم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697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2697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مرتجع مبيعات → إضافة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3108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تبديل → 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0" y="3520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PURCHASE_INVOICE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354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فاتورة مشتريات → إضافة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32320" y="3931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PURCHASE_RETURN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354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مرتجع مشتريات → خصم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4343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TRANSFER_OUT/IN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35440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بين المخازن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754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STOCK_TAKE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جرد → تسوية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32320" y="5166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SPOT_CHECK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5166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جرد أعمى مفاجئ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المخزون — معاينة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جدول المنتجات مع الفلترة + الأسعار + الكميات لكل مخزن + حالات المخزون</a:t>
            </a:r>
            <a:endParaRPr lang="en-US" sz="1400" dirty="0"/>
          </a:p>
        </p:txBody>
      </p:sp>
      <p:pic>
        <p:nvPicPr>
          <p:cNvPr id="4" name="Image 0" descr="/home/z/my-project/ppt-output/real-screenshots/03-inven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37360"/>
            <a:ext cx="11155680" cy="4754880"/>
          </a:xfrm>
          <a:prstGeom prst="rect">
            <a:avLst/>
          </a:prstGeom>
          <a:solidFill>
            <a:srgbClr val="C9A961">
              <a:alpha val="0"/>
            </a:srgbClr>
          </a:solidFill>
          <a:ln w="254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محاسبة ذات قيد مزدوج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حساب جاهز + قيود تلقائية على كل عملية + تقارير مالية كاملة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النقدية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724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أصل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البنك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724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أصل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7492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المخزون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724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أصل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0664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ذمم دائنة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2724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46920" y="201168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3836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عجز وردية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38360" y="2724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063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ضريبة مستحقة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776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51760" y="3063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3010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74320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رأس المال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3776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حقوق ملكية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83480" y="3063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4010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07492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 مبيعات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3776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0" y="3063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0664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فائض تسوية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06640" y="3776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إيراد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646920" y="3063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3836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5070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73836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البضاعة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38360" y="3776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مصروف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التقارير المالية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548640" y="48463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846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ميزان المراجعة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383280" y="48463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4846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الدخل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48463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846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الميزانية العمومية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052560" y="48463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52560" y="4846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التدفقات النقدية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53949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5394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الأستاذ العام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383280" y="53949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0" y="5394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VAT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217920" y="53949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5394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كشف حساب عميل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052560" y="53949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2560" y="5394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كشف حساب مورد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المحاسبة — معاينة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ميزان المراجعة + القيود اليومية + قائمة الدخل — كل القيود تلقائية</a:t>
            </a:r>
            <a:endParaRPr lang="en-US" sz="1400" dirty="0"/>
          </a:p>
        </p:txBody>
      </p:sp>
      <p:pic>
        <p:nvPicPr>
          <p:cNvPr id="4" name="Image 0" descr="/home/z/my-project/ppt-output/real-screenshots/06-accoun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37360"/>
            <a:ext cx="11155680" cy="4754880"/>
          </a:xfrm>
          <a:prstGeom prst="rect">
            <a:avLst/>
          </a:prstGeom>
          <a:solidFill>
            <a:srgbClr val="C9A961">
              <a:alpha val="0"/>
            </a:srgbClr>
          </a:solidFill>
          <a:ln w="254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التقارير والتحليلات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تقارير قابلة للتصدير Excel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المبيعات (فلاتر متعددة)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04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تحليلات المبيعات (5 أنواع)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883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مصفوفة الأداء (أقسام + منتجات)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723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مؤشر كفاءة المنتج (100 نقطة)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564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المخزون وحركاته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المشتريات والموردون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245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الولاء والعملاء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81728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085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الورديات والفروقات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65776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99262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المرتجعات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449824"/>
            <a:ext cx="182880" cy="1828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76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سجل التدقيق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كفاءة المنتج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83680" y="2194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نقطة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6949440" y="3017520"/>
            <a:ext cx="640080" cy="64008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67512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الربحية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3017520"/>
            <a:ext cx="640080" cy="640080"/>
          </a:xfrm>
          <a:prstGeom prst="ellipse">
            <a:avLst/>
          </a:prstGeom>
          <a:solidFill>
            <a:srgbClr val="8B5A3C"/>
          </a:solidFill>
          <a:ln w="12700">
            <a:solidFill>
              <a:srgbClr val="8B5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90956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المبيعات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418320" y="301752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4400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مرتجع عقابي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652760" y="3017520"/>
            <a:ext cx="640080" cy="640080"/>
          </a:xfrm>
          <a:prstGeom prst="ellipse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5276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378440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التكلفة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4389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التصنيف التلقائي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675120" y="484632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937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بطل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53949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من 80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09560" y="484632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4937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فرصة كامنة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09560" y="53949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50-80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44000" y="484632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8B5A3C"/>
          </a:solidFill>
          <a:ln w="12700">
            <a:solidFill>
              <a:srgbClr val="8B5A3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0" y="4937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مخادع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144000" y="53949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0378440" y="4846320"/>
            <a:ext cx="1143000" cy="1097280"/>
          </a:xfrm>
          <a:prstGeom prst="roundRect">
            <a:avLst>
              <a:gd name="adj" fmla="val 6667"/>
            </a:avLst>
          </a:prstGeom>
          <a:solidFill>
            <a:srgbClr val="8A7E76"/>
          </a:solidFill>
          <a:ln w="12700">
            <a:solidFill>
              <a:srgbClr val="8A7E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78440" y="49377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راكد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378440" y="539496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أقل من 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التقارير — معاينة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الأكثر مبيعاً + مؤشر كفاءة المنتج + توزيع الأقسام + مؤشرات الأداء</a:t>
            </a:r>
            <a:endParaRPr lang="en-US" sz="1400" dirty="0"/>
          </a:p>
        </p:txBody>
      </p:sp>
      <p:pic>
        <p:nvPicPr>
          <p:cNvPr id="4" name="Image 0" descr="/home/z/my-project/ppt-output/real-screenshots/07-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37360"/>
            <a:ext cx="11155680" cy="4754880"/>
          </a:xfrm>
          <a:prstGeom prst="rect">
            <a:avLst/>
          </a:prstGeom>
          <a:solidFill>
            <a:srgbClr val="C9A961">
              <a:alpha val="0"/>
            </a:srgbClr>
          </a:solidFill>
          <a:ln w="254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التحكم — معاينة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الأداء + مبيعات الأسبوع + آخر الفواتير + تنبيهات المخزون</a:t>
            </a:r>
            <a:endParaRPr lang="en-US" sz="1400" dirty="0"/>
          </a:p>
        </p:txBody>
      </p:sp>
      <p:pic>
        <p:nvPicPr>
          <p:cNvPr id="4" name="Image 0" descr="/home/z/my-project/ppt-output/real-screenshots/01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06424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737360"/>
            <a:ext cx="11155680" cy="4754880"/>
          </a:xfrm>
          <a:prstGeom prst="rect">
            <a:avLst/>
          </a:prstGeom>
          <a:solidFill>
            <a:srgbClr val="C9A961">
              <a:alpha val="0"/>
            </a:srgbClr>
          </a:solidFill>
          <a:ln w="25400">
            <a:solidFill>
              <a:srgbClr val="C9A961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باقات التسعير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اختر الباقة المناسبة لحجم متجرك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34340" y="169164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" y="1874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البداية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" y="22860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" y="25146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لمحلات العطور الصغيرة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7220" y="2834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17220" y="3520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د.ك / شهرياً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1540" y="3840480"/>
            <a:ext cx="2697480" cy="0"/>
          </a:xfrm>
          <a:prstGeom prst="line">
            <a:avLst/>
          </a:prstGeom>
          <a:noFill/>
          <a:ln w="12700">
            <a:solidFill>
              <a:srgbClr val="A7BEA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3977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7260" y="3977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نقاط بيع قياسي + سريع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8660" y="4224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7260" y="42245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حتى 100 منتج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8660" y="44714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7260" y="44714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مخزن واحد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8660" y="47183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7260" y="4718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مستخدم واحد (كاشير)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8660" y="496519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7260" y="4965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فواتير + طباعة حرارية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8660" y="52120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7260" y="52120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ورديات + إغلاق يومي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8660" y="54589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7260" y="54589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دعم بريدي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74820" y="169164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2220" y="18288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2220" y="1828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الأكثر شعبية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57700" y="1874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النمو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457700" y="22860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57700" y="25146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لمحلات العطور المتوسطة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57700" y="2834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4457700" y="3520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د.ك / شهرياً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32020" y="3840480"/>
            <a:ext cx="2697480" cy="0"/>
          </a:xfrm>
          <a:prstGeom prst="line">
            <a:avLst/>
          </a:prstGeom>
          <a:noFill/>
          <a:ln w="12700">
            <a:solidFill>
              <a:srgbClr val="A7BEAE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9140" y="3977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7740" y="3977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ميزات البداية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49140" y="4224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7740" y="42245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منتجات غير محدودة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49140" y="44714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77740" y="44714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حتى 3 مخازن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49140" y="47183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77740" y="4718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حتى 5 مستخدمين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49140" y="496519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7740" y="4965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محاسبة قيد مزدوج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49140" y="52120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77740" y="52120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ملاحق جمركية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49140" y="54589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77740" y="54589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تركيبات + باقات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49140" y="570585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77740" y="57058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+ Excel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49140" y="595274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77740" y="59527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دعم بالواتساب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15300" y="169164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98180" y="18745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المؤسسة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298180" y="22860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98180" y="251460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للمحلات الكبيرة والفروع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98180" y="2834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4000" dirty="0"/>
          </a:p>
        </p:txBody>
      </p:sp>
      <p:sp>
        <p:nvSpPr>
          <p:cNvPr id="57" name="Text 55"/>
          <p:cNvSpPr/>
          <p:nvPr/>
        </p:nvSpPr>
        <p:spPr>
          <a:xfrm>
            <a:off x="8298180" y="3520440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د.ك / شهرياً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572500" y="3840480"/>
            <a:ext cx="2697480" cy="0"/>
          </a:xfrm>
          <a:prstGeom prst="line">
            <a:avLst/>
          </a:prstGeom>
          <a:noFill/>
          <a:ln w="12700">
            <a:solidFill>
              <a:srgbClr val="A7BEAE">
                <a:alpha val="5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89620" y="3977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618220" y="39776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ميزات النمو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389620" y="422452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618220" y="422452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مخازن غير محدودة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389620" y="447141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618220" y="447141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مستخدمون غير محدودين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89620" y="471830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618220" y="4718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تكامل Shopify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389620" y="4965192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618220" y="496519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كفاءة المنتج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389620" y="52120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618220" y="52120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سجل تدقيق كامل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389620" y="5458968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618220" y="54589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أدوات صيانة النظام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89620" y="5705856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618220" y="57058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أولوية الدعم + هاتفي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389620" y="5952744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618220" y="595274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تدريب مخصص (2 ساعة)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جميع البقات تشمل: استضافة سحابية + نسخ احتياطي يومي + تحديثات مجانية + إلغاء في أي وقت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 لمرة واحدة + خدمات إضافية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الإعداد لمرة واحدة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الحساب + ربط Supabase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مجاني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استيراد المنتجات (Excel)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مجاني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تدريب أساسي (ساعة)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27797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مجاني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تخصيص شعار + فاتورة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3072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د.ك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364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ترحيل بيانات من نظام سابق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3364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د.ك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تدريب مخصص (2 ساعة)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د.ك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53035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أجهزة (اختياري)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طابعة إيصالات حرارية 80mm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د.ك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24871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قارئ باركود USB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24871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د.ك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27797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درج نقود آلي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277977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د.ك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جهاز لوحي Android للكاشير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307238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د.ك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364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لمس عميلة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3364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د.ك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2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حزمة كاملة (الكل)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د.ك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خصم الدفع السنوي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ادفع سنوياً بدل شهرياً ووفّر شهرين مجاناً (≈17% خصم)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22960" y="5577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البداية: 15 د.ك/شهر → 150 د.ك/سنة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22960" y="5943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وفّر 30 د.ك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480560" y="5577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النمو: 35 د.ك/شهر → 350 د.ك/سنة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80560" y="5943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وفّر 70 د.ك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38160" y="5577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المؤسسة: 75 د.ك/شهر → 750 د.ك/سنة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38160" y="5943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وفّر 150 د.ك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لماذا KWPOS؟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🇰🇼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63040" y="1737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مصمم للكويت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1488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دينار كويتي + ضريبة كيات + متعدد الفروع + عربي RTL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86600" y="1737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سريع جداً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21488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SQL + React.memo + 100ms استجابة POS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463040" y="3063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آمن وقابل للتدقيق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4747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audit log + صلاحيات دقيقة + timingSafeEqual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88036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086600" y="306324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ذكي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86600" y="347472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+ تحليلات + مؤشر كفاءة المنتج (100 نقطة)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463040" y="43891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اقتصادي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8006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= لا خوادم لإدارتها، تبدأ من 15 د.ك شهرياً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20624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🧪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086600" y="438912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موثوق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86600" y="48006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اختبار آلي + lint + TypeScript صارم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53212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806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🌍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463040" y="57150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يعمل في أي مكان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61264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سحابي + الوصول من الجوال + الكمبيوتر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5532120"/>
            <a:ext cx="5440680" cy="1143000"/>
          </a:xfrm>
          <a:prstGeom prst="roundRect">
            <a:avLst>
              <a:gd name="adj" fmla="val 6400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5806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7086600" y="57150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قابل للتخصيص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86600" y="61264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l" indent="0" marL="0">
              <a:buNone/>
            </a:pPr>
            <a:r>
              <a:rPr lang="en-US" sz="11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ملاحق جمركية + تركيبات + باقات + عروض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 لكم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نحن هنا لإدارة أعمالكم بكفاءة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337560" y="38404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2A2018"/>
          </a:solidFill>
          <a:ln w="12700">
            <a:solidFill>
              <a:srgbClr val="2A20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للبدء أو الاستفسار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4526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البريد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info@kwpos.kw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4910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49103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49103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kwpos.vercel.app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5294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529437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الواتساب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52943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+965 0000 0000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6126480"/>
            <a:ext cx="5486400" cy="548640"/>
          </a:xfrm>
          <a:prstGeom prst="roundRect">
            <a:avLst>
              <a:gd name="adj" fmla="val 1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6126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 مجاناً لمدة 14 يوماً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KWPOS — نظام نقاط البيع والمخازن</dc:title>
  <dc:subject>PptxGenJS Presentation</dc:subject>
  <dc:creator>KWPOS</dc:creator>
  <cp:lastModifiedBy>KWPOS</cp:lastModifiedBy>
  <cp:revision>1</cp:revision>
  <dcterms:created xsi:type="dcterms:W3CDTF">2026-08-26T06:31:28Z</dcterms:created>
  <dcterms:modified xsi:type="dcterms:W3CDTF">2026-08-26T06:31:28Z</dcterms:modified>
</cp:coreProperties>
</file>